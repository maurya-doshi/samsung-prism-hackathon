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374" r:id="rId2"/>
    <p:sldId id="375" r:id="rId3"/>
    <p:sldId id="257" r:id="rId4"/>
    <p:sldId id="384" r:id="rId5"/>
    <p:sldId id="376" r:id="rId6"/>
    <p:sldId id="385" r:id="rId7"/>
    <p:sldId id="377" r:id="rId8"/>
    <p:sldId id="386" r:id="rId9"/>
    <p:sldId id="387" r:id="rId10"/>
    <p:sldId id="388" r:id="rId11"/>
    <p:sldId id="378" r:id="rId12"/>
    <p:sldId id="389" r:id="rId13"/>
    <p:sldId id="390" r:id="rId14"/>
    <p:sldId id="391" r:id="rId15"/>
    <p:sldId id="379" r:id="rId16"/>
    <p:sldId id="392" r:id="rId17"/>
    <p:sldId id="393" r:id="rId18"/>
    <p:sldId id="380" r:id="rId19"/>
    <p:sldId id="394" r:id="rId20"/>
    <p:sldId id="395" r:id="rId21"/>
    <p:sldId id="38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91" autoAdjust="0"/>
    <p:restoredTop sz="94660"/>
  </p:normalViewPr>
  <p:slideViewPr>
    <p:cSldViewPr snapToGrid="0">
      <p:cViewPr varScale="1">
        <p:scale>
          <a:sx n="86" d="100"/>
          <a:sy n="86" d="100"/>
        </p:scale>
        <p:origin x="33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AFF0E-449D-426B-83E6-7E557F3BCD7F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2ADFC2-4656-49F6-8F5B-84313FD652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2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73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12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86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7126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133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1306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953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264D7-FD5D-4592-B4BA-0A1638C282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22DA6-5CC0-4908-AB19-3BCB77EFC6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F6F72-5872-4CEB-A8C1-89CFCA549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6BC3D-6474-4263-9B99-5E9D1557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2E46B-395F-44BB-A399-301BD898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259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59695-79A9-4446-91E3-05E7FE7A1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6FC54-E211-48A1-8BCA-378B4D4D3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5B42F-19A5-4F50-9CDF-42D673EB0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EB133-FF63-4CDE-83A1-44AF473A2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2E08C-2449-4EE7-85C3-B82B56662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120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626C4-320A-4799-9AE2-8DDE1CA61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C3420-268D-4A73-990C-4BA315086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19061-FA9F-4CD9-8574-300E0E899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8B69E-7D13-401E-BA52-560698F83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F2BDD-5AC8-4AE3-8868-F8CC1DA76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694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219AC-BA64-4335-BA9B-DF3911CCE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8DA36-87D1-4E4A-8D55-031DDA3086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276BB-4B19-4B31-A15F-D171E88D8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E846C6-E4EC-417D-8F33-F85084C30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C9D499-DC6A-4178-AFA3-2E2D44FD3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19571-DCCE-45D8-8783-EA6DC03D8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939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78171-0F87-491D-955D-347FAE8D0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3EC69-5405-4A73-84BD-F54C9837D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A1D5BF-B1AE-44F7-BF58-8E4B057CD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7E8175-A0D7-4248-A114-5AC9DF5116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338F68-9ACA-4AC9-B3EC-D38E662B2A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F9F48F-32B7-4E62-920E-426CD4A43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7049EB-BDFC-47EA-9692-76B73894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F573FA-F1A3-4137-8DF6-8477A299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541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EC694-79DB-4363-B1A5-15A50E69F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4B602A-C477-4739-9033-AA90AEB95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E378F1-E22C-4E55-9DDB-BB46A0C14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5B7E4F-F4BD-47E4-8AF4-FE65D6600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687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180C5E-189E-4B16-8B64-6164F629D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B3E471-C627-4A6F-8940-20A4EE7AC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3B9AE-03BF-4E26-AF08-84460AF45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498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5660-5922-4086-9079-F98C845BC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CA404-6545-4C37-A301-16A160A00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D04D32-44ED-4022-9B36-1EE734ED6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38BFFD-8B76-47E2-B9FB-5194F0101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D40FA1-8D0A-4E4C-9953-054729FB8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9A4A1-B2D3-4598-9C16-19E3F974E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538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7357B-DBC0-436F-82C9-9BE7A6D46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CAA78A-18AB-4BC5-BEFE-4D14122FCE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76BB34-FC6B-48B7-88A4-726F54735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AB742C-BF4E-4140-8947-871247A3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1326A-4386-47BF-8036-878141A47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5A690-66C4-49A2-AFF2-86E9646D8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2603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FD690-141F-4B82-AAA6-311E8BB6E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5DCD3E-D233-4229-9571-4585EFE523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2A0F7-FDB1-43FF-A571-32B80EE10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B04E9-3520-49DA-836F-CFFB881FB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C8C8B-43E3-4E78-9BFA-28431143D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527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6DD375-6C7A-403C-8B36-D5D3CFCF0E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BF1880-F132-48C9-9D79-CA5068434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B219E-CEFA-45B4-9588-67FAD5B86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14DA2-B751-43ED-834C-17F142F9E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DBFD0-8FFE-4F10-9A8D-DC32F2294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288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0540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D61A3F-7420-4211-A9AF-443ACDC04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53A93-B55A-4668-86F8-9483DF49D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196E0-46F1-4FF9-A486-7116F5016B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E07B5-C98B-47C4-829C-B640A6AEE9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13DEB-9452-48C6-802D-EC521E602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818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98">
            <a:extLst>
              <a:ext uri="{FF2B5EF4-FFF2-40B4-BE49-F238E27FC236}">
                <a16:creationId xmlns:a16="http://schemas.microsoft.com/office/drawing/2014/main" id="{AA78BBCF-2634-4089-8492-D8569E905F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35216" t="9860" r="35722" b="40504"/>
          <a:stretch/>
        </p:blipFill>
        <p:spPr>
          <a:xfrm>
            <a:off x="7372538" y="1619794"/>
            <a:ext cx="4421349" cy="5638238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966C81A6-8FBD-44BD-9DF5-A762864663F9}"/>
              </a:ext>
            </a:extLst>
          </p:cNvPr>
          <p:cNvSpPr txBox="1"/>
          <p:nvPr/>
        </p:nvSpPr>
        <p:spPr>
          <a:xfrm>
            <a:off x="0" y="604461"/>
            <a:ext cx="21825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Berlin Sans FB Demi" panose="020E0802020502020306" pitchFamily="34" charset="0"/>
                <a:ea typeface="SamsungOne 800" panose="020B0903030303020204" pitchFamily="34" charset="0"/>
              </a:rPr>
              <a:t>CLASH OF THE</a:t>
            </a:r>
            <a:endParaRPr lang="en-US" sz="20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2DB02A4-569F-4135-9840-A60286D3E03F}"/>
              </a:ext>
            </a:extLst>
          </p:cNvPr>
          <p:cNvSpPr txBox="1"/>
          <p:nvPr/>
        </p:nvSpPr>
        <p:spPr>
          <a:xfrm>
            <a:off x="1756232" y="436120"/>
            <a:ext cx="20911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CLAWS</a:t>
            </a:r>
            <a:endParaRPr lang="en-IN" sz="3600" dirty="0">
              <a:latin typeface="Berlin Sans FB Demi" panose="020E0802020502020306" pitchFamily="34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D060EA0-A6D1-484F-8987-38123CE63233}"/>
              </a:ext>
            </a:extLst>
          </p:cNvPr>
          <p:cNvSpPr txBox="1"/>
          <p:nvPr/>
        </p:nvSpPr>
        <p:spPr>
          <a:xfrm>
            <a:off x="614772" y="2459504"/>
            <a:ext cx="5132436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 err="1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MSRIT_ByteX</a:t>
            </a:r>
            <a:endParaRPr lang="en-US" sz="40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  <a:p>
            <a:pPr algn="ctr"/>
            <a:r>
              <a:rPr lang="en-US" sz="4000" b="1" dirty="0" err="1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OpenClaw</a:t>
            </a:r>
            <a:r>
              <a:rPr lang="en-US" sz="40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-Powered Autonomous Stock Intelligence Assistant</a:t>
            </a:r>
          </a:p>
          <a:p>
            <a:pPr algn="ctr"/>
            <a:endParaRPr lang="en-US" sz="40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  <a:p>
            <a:pPr algn="ctr"/>
            <a:r>
              <a:rPr lang="en-US" sz="20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Maurya Doshi</a:t>
            </a:r>
          </a:p>
          <a:p>
            <a:pPr algn="ctr"/>
            <a:r>
              <a:rPr lang="en-US" sz="20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Mayura Krishna</a:t>
            </a:r>
          </a:p>
          <a:p>
            <a:pPr algn="ctr"/>
            <a:r>
              <a:rPr lang="en-US" sz="20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Meera Kumar</a:t>
            </a:r>
            <a:br>
              <a:rPr lang="en-US" sz="40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</a:br>
            <a:endParaRPr lang="en-US" sz="4000" b="1" dirty="0">
              <a:solidFill>
                <a:schemeClr val="tx2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63B24E-BBCD-4BAC-9AEF-81547E82C9E5}"/>
              </a:ext>
            </a:extLst>
          </p:cNvPr>
          <p:cNvGrpSpPr/>
          <p:nvPr/>
        </p:nvGrpSpPr>
        <p:grpSpPr>
          <a:xfrm>
            <a:off x="137355" y="46746"/>
            <a:ext cx="3814159" cy="639045"/>
            <a:chOff x="137355" y="133834"/>
            <a:chExt cx="3814159" cy="63904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C9D2D8C-378C-4311-B59D-9891D5378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355" y="133834"/>
              <a:ext cx="974396" cy="63904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AA001E0-3B05-4E97-9F59-DA7472558885}"/>
                </a:ext>
              </a:extLst>
            </p:cNvPr>
            <p:cNvSpPr txBox="1"/>
            <p:nvPr/>
          </p:nvSpPr>
          <p:spPr>
            <a:xfrm>
              <a:off x="1017814" y="244337"/>
              <a:ext cx="29337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latin typeface="Berlin Sans FB Demi" panose="020E0802020502020306" pitchFamily="34" charset="0"/>
                  <a:ea typeface="SamsungOne 800" panose="020B0903030303020204" pitchFamily="34" charset="0"/>
                </a:rPr>
                <a:t>| Tech Management, SRI-B</a:t>
              </a:r>
              <a:endParaRPr lang="en-US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4731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109728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Why Theme 3: Productivity?</a:t>
            </a:r>
          </a:p>
          <a:p>
            <a:r>
              <a:rPr lang="en-US" dirty="0"/>
              <a:t>Indian retail investors waste </a:t>
            </a:r>
            <a:r>
              <a:rPr lang="en-US" b="1" dirty="0"/>
              <a:t>2-3 hours daily</a:t>
            </a:r>
            <a:r>
              <a:rPr lang="en-US" dirty="0"/>
              <a:t> manually checking stock prices, calculating indicators, and tracking portfolios across 5+ apps. We delegate this to an AI orchestrator that monitors 24/7 and notifies via Telegram.</a:t>
            </a:r>
          </a:p>
          <a:p>
            <a:r>
              <a:rPr lang="en-US" b="1" dirty="0"/>
              <a:t>The Problem</a:t>
            </a:r>
          </a:p>
          <a:p>
            <a:r>
              <a:rPr lang="en-US" b="1" dirty="0"/>
              <a:t>Missed opportunities cost money.</a:t>
            </a:r>
            <a:r>
              <a:rPr lang="en-US" dirty="0"/>
              <a:t> You want to buy TCS at ₹3,500 but you're in a meeting → it hits ₹3,500 for 10 minutes → by the time you check, it's ₹3,650. </a:t>
            </a:r>
            <a:r>
              <a:rPr lang="en-US" b="1" dirty="0"/>
              <a:t>Lost: ₹1,500 per 100 shares.</a:t>
            </a:r>
            <a:endParaRPr lang="en-US" dirty="0"/>
          </a:p>
          <a:p>
            <a:r>
              <a:rPr lang="en-US" b="1" dirty="0"/>
              <a:t>Who Faces This?</a:t>
            </a:r>
          </a:p>
          <a:p>
            <a:r>
              <a:rPr lang="en-US" b="1" dirty="0"/>
              <a:t>"Rahul" — 28-year-old software engineer, Bangalore</a:t>
            </a:r>
            <a:endParaRPr lang="en-US" dirty="0"/>
          </a:p>
          <a:p>
            <a:r>
              <a:rPr lang="en-US" dirty="0"/>
              <a:t>₹5L stock portfolio, works 9-7</a:t>
            </a:r>
          </a:p>
          <a:p>
            <a:r>
              <a:rPr lang="en-US" dirty="0"/>
              <a:t>Uses 4 different apps: </a:t>
            </a:r>
            <a:r>
              <a:rPr lang="en-US" dirty="0" err="1"/>
              <a:t>Zerodha</a:t>
            </a:r>
            <a:r>
              <a:rPr lang="en-US" dirty="0"/>
              <a:t> (trades), Investing.com (prices), Excel (portfolio), Twitter (news)</a:t>
            </a:r>
          </a:p>
          <a:p>
            <a:r>
              <a:rPr lang="en-US" b="1" dirty="0"/>
              <a:t>Pain:</a:t>
            </a:r>
            <a:r>
              <a:rPr lang="en-US" dirty="0"/>
              <a:t> "I'm too busy to monitor stocks, but too worried to ignore them"</a:t>
            </a:r>
          </a:p>
          <a:p>
            <a:r>
              <a:rPr lang="en-US" b="1" dirty="0"/>
              <a:t>Why It Matters</a:t>
            </a:r>
          </a:p>
          <a:p>
            <a:r>
              <a:rPr lang="en-US" b="1" dirty="0"/>
              <a:t>163M Indian demat accounts</a:t>
            </a:r>
            <a:r>
              <a:rPr lang="en-US" dirty="0"/>
              <a:t>, but only 2% actively trade due to complexity</a:t>
            </a:r>
          </a:p>
          <a:p>
            <a:r>
              <a:rPr lang="en-US" b="1" dirty="0"/>
              <a:t>₹5,000-₹50,000</a:t>
            </a:r>
            <a:r>
              <a:rPr lang="en-US" dirty="0"/>
              <a:t> lost annually per investor from missed entry/exit points</a:t>
            </a:r>
          </a:p>
          <a:p>
            <a:r>
              <a:rPr lang="en-US" b="1" dirty="0"/>
              <a:t>Financial literacy gap:</a:t>
            </a:r>
            <a:r>
              <a:rPr lang="en-US" dirty="0"/>
              <a:t> 80% of beginners don't understand RSI, MACD → make poor decisions</a:t>
            </a:r>
          </a:p>
          <a:p>
            <a:r>
              <a:rPr lang="en-US" b="1" dirty="0"/>
              <a:t>The Hook</a:t>
            </a:r>
          </a:p>
          <a:p>
            <a:r>
              <a:rPr lang="en-US" dirty="0"/>
              <a:t>Stock monitoring shouldn't require staring at screens. </a:t>
            </a:r>
            <a:r>
              <a:rPr lang="en-US" b="1" dirty="0"/>
              <a:t>Your phone already has Telegram. Now it has a stock analyst.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1803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Current Solution &amp; Gaps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609600" y="1633728"/>
            <a:ext cx="1190791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Existing Solutions</a:t>
            </a:r>
          </a:p>
          <a:p>
            <a:r>
              <a:rPr lang="en-US" b="1" dirty="0"/>
              <a:t>Traditional Trading Apps (</a:t>
            </a:r>
            <a:r>
              <a:rPr lang="en-US" b="1" dirty="0" err="1"/>
              <a:t>Zerodha</a:t>
            </a:r>
            <a:r>
              <a:rPr lang="en-US" b="1" dirty="0"/>
              <a:t> Kite, </a:t>
            </a:r>
            <a:r>
              <a:rPr lang="en-US" b="1" dirty="0" err="1"/>
              <a:t>Groww</a:t>
            </a:r>
            <a:r>
              <a:rPr lang="en-US" b="1" dirty="0"/>
              <a:t>, </a:t>
            </a:r>
            <a:r>
              <a:rPr lang="en-US" b="1" dirty="0" err="1"/>
              <a:t>Upstox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✅ Live stock prices, portfolio tracking, trading execution</a:t>
            </a:r>
          </a:p>
          <a:p>
            <a:r>
              <a:rPr lang="en-US" dirty="0"/>
              <a:t>❌ Require constant manual checking — no proactive alerts</a:t>
            </a:r>
          </a:p>
          <a:p>
            <a:r>
              <a:rPr lang="en-US" dirty="0"/>
              <a:t>❌ Heavy apps (50-100MB), drain battery with constant refreshing</a:t>
            </a:r>
          </a:p>
          <a:p>
            <a:r>
              <a:rPr lang="en-US" dirty="0"/>
              <a:t>❌ Technical indicators shown as raw numbers (RSI: 68) with no explanation</a:t>
            </a:r>
          </a:p>
          <a:p>
            <a:r>
              <a:rPr lang="en-US" b="1" dirty="0"/>
              <a:t>Stock Screeners (Investing.com, </a:t>
            </a:r>
            <a:r>
              <a:rPr lang="en-US" b="1" dirty="0" err="1"/>
              <a:t>Moneycontrol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✅ Price alerts, news feeds</a:t>
            </a:r>
          </a:p>
          <a:p>
            <a:r>
              <a:rPr lang="en-US" dirty="0"/>
              <a:t>❌ Alerts only trigger if app is open/running in background</a:t>
            </a:r>
          </a:p>
          <a:p>
            <a:r>
              <a:rPr lang="en-US" dirty="0"/>
              <a:t>❌ No portfolio integration — you track manually in Excel</a:t>
            </a:r>
          </a:p>
          <a:p>
            <a:r>
              <a:rPr lang="en-US" dirty="0"/>
              <a:t>❌ Separate app = context switching kills productivity</a:t>
            </a:r>
          </a:p>
          <a:p>
            <a:r>
              <a:rPr lang="en-US" b="1" dirty="0"/>
              <a:t>Google Finance / Yahoo Finance</a:t>
            </a:r>
            <a:endParaRPr lang="en-US" dirty="0"/>
          </a:p>
          <a:p>
            <a:r>
              <a:rPr lang="en-US" dirty="0"/>
              <a:t>✅ Free price data</a:t>
            </a:r>
          </a:p>
          <a:p>
            <a:r>
              <a:rPr lang="en-US" dirty="0"/>
              <a:t>❌ Zero analysis, zero alerts, zero portfolio tracking</a:t>
            </a:r>
          </a:p>
          <a:p>
            <a:r>
              <a:rPr lang="en-US" dirty="0"/>
              <a:t>❌ Just a data display — you do all the work</a:t>
            </a:r>
          </a:p>
          <a:p>
            <a:r>
              <a:rPr lang="en-US" b="1" dirty="0"/>
              <a:t>What's Missing/Broken</a:t>
            </a:r>
          </a:p>
          <a:p>
            <a:r>
              <a:rPr lang="en-US" b="1" dirty="0"/>
              <a:t>Gap 1: No True Background Monitoring</a:t>
            </a:r>
            <a:endParaRPr lang="en-US" dirty="0"/>
          </a:p>
          <a:p>
            <a:r>
              <a:rPr lang="en-US" dirty="0"/>
              <a:t>Apps stop alerts when closed → you miss price movements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B595C9-81B5-0477-3EBE-83C48A2CE46A}"/>
              </a:ext>
            </a:extLst>
          </p:cNvPr>
          <p:cNvSpPr txBox="1"/>
          <p:nvPr/>
        </p:nvSpPr>
        <p:spPr>
          <a:xfrm>
            <a:off x="559293" y="674702"/>
            <a:ext cx="1098167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Our solution:</a:t>
            </a:r>
            <a:r>
              <a:rPr lang="en-US"/>
              <a:t> 24/7 heartbeat daemon monitors even when Telegram is closed</a:t>
            </a:r>
          </a:p>
          <a:p>
            <a:r>
              <a:rPr lang="en-US" b="1"/>
              <a:t>Gap 2: Technical Analysis Barrier</a:t>
            </a:r>
            <a:endParaRPr lang="en-US"/>
          </a:p>
          <a:p>
            <a:r>
              <a:rPr lang="en-US"/>
              <a:t>"RSI 72, MACD -5.2" means nothing to 90% of retail investors</a:t>
            </a:r>
          </a:p>
          <a:p>
            <a:r>
              <a:rPr lang="en-US" b="1"/>
              <a:t>Our solution:</a:t>
            </a:r>
            <a:r>
              <a:rPr lang="en-US"/>
              <a:t> AI converts to "Stock looks overbought, consider waiting"</a:t>
            </a:r>
          </a:p>
          <a:p>
            <a:r>
              <a:rPr lang="en-US" b="1"/>
              <a:t>Gap 3: Platform Fragmentation</a:t>
            </a:r>
            <a:endParaRPr lang="en-US"/>
          </a:p>
          <a:p>
            <a:r>
              <a:rPr lang="en-US"/>
              <a:t>Average investor uses 4-5 apps: trading, news, alerts, portfolio, screeners</a:t>
            </a:r>
          </a:p>
          <a:p>
            <a:r>
              <a:rPr lang="en-US" b="1"/>
              <a:t>Our solution:</a:t>
            </a:r>
            <a:r>
              <a:rPr lang="en-US"/>
              <a:t> Everything in Telegram (already installed by 500M+ Indians)</a:t>
            </a:r>
          </a:p>
          <a:p>
            <a:r>
              <a:rPr lang="en-US" b="1"/>
              <a:t>Gap 4: Cost</a:t>
            </a:r>
            <a:endParaRPr lang="en-US"/>
          </a:p>
          <a:p>
            <a:r>
              <a:rPr lang="en-US"/>
              <a:t>Premium features cost ₹500-1000/month (TradingView, Sensibull)</a:t>
            </a:r>
          </a:p>
          <a:p>
            <a:r>
              <a:rPr lang="en-US" b="1"/>
              <a:t>Our solution:</a:t>
            </a:r>
            <a:r>
              <a:rPr lang="en-US"/>
              <a:t> 100% free, powered by open APIs</a:t>
            </a:r>
          </a:p>
          <a:p>
            <a:r>
              <a:rPr lang="en-US" b="1"/>
              <a:t>The Opportunity</a:t>
            </a:r>
          </a:p>
          <a:p>
            <a:r>
              <a:rPr lang="en-US" b="1"/>
              <a:t>163M demat accounts, but only 3M active traders.</a:t>
            </a:r>
            <a:br>
              <a:rPr lang="en-US"/>
            </a:br>
            <a:r>
              <a:rPr lang="en-US"/>
              <a:t>Why? Existing tools are:</a:t>
            </a:r>
          </a:p>
          <a:p>
            <a:r>
              <a:rPr lang="en-US"/>
              <a:t>Too complex for beginners</a:t>
            </a:r>
          </a:p>
          <a:p>
            <a:r>
              <a:rPr lang="en-US"/>
              <a:t>Too fragmented for busy professionals</a:t>
            </a:r>
          </a:p>
          <a:p>
            <a:r>
              <a:rPr lang="en-US"/>
              <a:t>Too expensive for small portfolios</a:t>
            </a:r>
          </a:p>
          <a:p>
            <a:r>
              <a:rPr lang="en-US" b="1"/>
              <a:t>IPO Pulse fills the gap:</a:t>
            </a:r>
            <a:r>
              <a:rPr lang="en-US"/>
              <a:t> Conversational, proactive, free, and lives in an app you already use.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676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Your Solutions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1116445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An AI-powered Telegram bot that monitors Indian stocks 24/7, performs instant technical analysis, and sends proactive alerts. </a:t>
            </a:r>
            <a:r>
              <a:rPr lang="en-IN" b="1" dirty="0"/>
              <a:t>No app download. No subscriptions. Just chat.</a:t>
            </a:r>
            <a:endParaRPr lang="en-IN" dirty="0"/>
          </a:p>
          <a:p>
            <a:r>
              <a:rPr lang="en-IN" b="1" dirty="0"/>
              <a:t>Core Ideas Explanation</a:t>
            </a:r>
          </a:p>
          <a:p>
            <a:r>
              <a:rPr lang="en-IN" b="1" dirty="0"/>
              <a:t>1. Delegate Monitoring to AI</a:t>
            </a:r>
            <a:endParaRPr lang="en-IN" dirty="0"/>
          </a:p>
          <a:p>
            <a:r>
              <a:rPr lang="en-IN" dirty="0"/>
              <a:t>Background heartbeat checks prices every 2 minutes (even when you're offline)</a:t>
            </a:r>
          </a:p>
          <a:p>
            <a:r>
              <a:rPr lang="en-IN" dirty="0"/>
              <a:t>You set target prices once → bot watches forever</a:t>
            </a:r>
          </a:p>
          <a:p>
            <a:r>
              <a:rPr lang="en-IN" dirty="0"/>
              <a:t>Telegram notification when TCS hits ₹3,500 → you decide to buy</a:t>
            </a:r>
          </a:p>
          <a:p>
            <a:r>
              <a:rPr lang="en-IN" b="1" dirty="0"/>
              <a:t>2. Make Technical Analysis Human</a:t>
            </a:r>
            <a:endParaRPr lang="en-IN" dirty="0"/>
          </a:p>
          <a:p>
            <a:r>
              <a:rPr lang="en-IN" dirty="0"/>
              <a:t>Traditional: "RSI: 68, MACD: -5.2, MA20: 3,482"</a:t>
            </a:r>
          </a:p>
          <a:p>
            <a:r>
              <a:rPr lang="en-IN" dirty="0"/>
              <a:t>IPO Pulse: "The stock looks overbought (RSI 68). Consider waiting for a dip. Moving average suggests upward trend."</a:t>
            </a:r>
          </a:p>
          <a:p>
            <a:r>
              <a:rPr lang="en-IN" dirty="0"/>
              <a:t>Powered by Claude Haiku 4.5 — converts numbers to decisions</a:t>
            </a:r>
          </a:p>
          <a:p>
            <a:r>
              <a:rPr lang="en-IN" b="1" dirty="0"/>
              <a:t>3. Live Where You Already Are</a:t>
            </a:r>
            <a:endParaRPr lang="en-IN" dirty="0"/>
          </a:p>
          <a:p>
            <a:r>
              <a:rPr lang="en-IN" dirty="0"/>
              <a:t>No separate app → works in Telegram (already on your phone)</a:t>
            </a:r>
          </a:p>
          <a:p>
            <a:r>
              <a:rPr lang="en-IN" dirty="0"/>
              <a:t>Works on 2G/3G → unlike heavy trading apps</a:t>
            </a:r>
          </a:p>
          <a:p>
            <a:r>
              <a:rPr lang="en-IN" dirty="0"/>
              <a:t>Portfolio tracking via chat → no Excel sheets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5258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DC153B-BAF5-90C9-4BD0-4CCD5E2F379F}"/>
              </a:ext>
            </a:extLst>
          </p:cNvPr>
          <p:cNvSpPr txBox="1"/>
          <p:nvPr/>
        </p:nvSpPr>
        <p:spPr>
          <a:xfrm>
            <a:off x="506027" y="639192"/>
            <a:ext cx="1115923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Key Features</a:t>
            </a:r>
          </a:p>
          <a:p>
            <a:r>
              <a:rPr lang="en-IN" b="1" dirty="0"/>
              <a:t>📊 /</a:t>
            </a:r>
            <a:r>
              <a:rPr lang="en-IN" b="1" dirty="0" err="1"/>
              <a:t>analyze</a:t>
            </a:r>
            <a:r>
              <a:rPr lang="en-IN" b="1" dirty="0"/>
              <a:t> RELIANCE</a:t>
            </a:r>
            <a:endParaRPr lang="en-IN" dirty="0"/>
          </a:p>
          <a:p>
            <a:r>
              <a:rPr lang="en-IN" dirty="0"/>
              <a:t>Technical indicators: RSI, MA20, MA50</a:t>
            </a:r>
          </a:p>
          <a:p>
            <a:r>
              <a:rPr lang="en-IN" dirty="0"/>
              <a:t>AI-generated plain-English explanation</a:t>
            </a:r>
          </a:p>
          <a:p>
            <a:r>
              <a:rPr lang="en-IN" dirty="0"/>
              <a:t>Response time: &lt;2 seconds</a:t>
            </a:r>
          </a:p>
          <a:p>
            <a:r>
              <a:rPr lang="en-IN" b="1" dirty="0"/>
              <a:t>🔔 /alert TCS 3500</a:t>
            </a:r>
            <a:endParaRPr lang="en-IN" dirty="0"/>
          </a:p>
          <a:p>
            <a:r>
              <a:rPr lang="en-IN" dirty="0"/>
              <a:t>Set unlimited price alerts</a:t>
            </a:r>
          </a:p>
          <a:p>
            <a:r>
              <a:rPr lang="en-IN" dirty="0"/>
              <a:t>24/7 background monitoring (no app needs to be open)</a:t>
            </a:r>
          </a:p>
          <a:p>
            <a:r>
              <a:rPr lang="en-IN" dirty="0"/>
              <a:t>Instant Telegram push notification when target hits</a:t>
            </a:r>
          </a:p>
          <a:p>
            <a:r>
              <a:rPr lang="en-IN" b="1" dirty="0"/>
              <a:t>💼 /buy TCS 10 3500 + /sell TCS 5</a:t>
            </a:r>
            <a:endParaRPr lang="en-IN" dirty="0"/>
          </a:p>
          <a:p>
            <a:r>
              <a:rPr lang="en-IN" dirty="0"/>
              <a:t>Track portfolio entries/exits conversationally</a:t>
            </a:r>
          </a:p>
          <a:p>
            <a:r>
              <a:rPr lang="en-IN" dirty="0"/>
              <a:t>Auto-calculates average cost, total holdings</a:t>
            </a:r>
          </a:p>
          <a:p>
            <a:r>
              <a:rPr lang="en-IN" dirty="0"/>
              <a:t>Live P&amp;L with current prices</a:t>
            </a:r>
          </a:p>
          <a:p>
            <a:r>
              <a:rPr lang="en-IN" b="1" dirty="0"/>
              <a:t>📈 /portfolio</a:t>
            </a:r>
            <a:endParaRPr lang="en-IN" dirty="0"/>
          </a:p>
          <a:p>
            <a:r>
              <a:rPr lang="en-IN" dirty="0"/>
              <a:t>Complete holdings overview</a:t>
            </a:r>
          </a:p>
          <a:p>
            <a:r>
              <a:rPr lang="en-IN" dirty="0"/>
              <a:t>Real-time profit/loss calculation</a:t>
            </a:r>
          </a:p>
          <a:p>
            <a:r>
              <a:rPr lang="en-IN" dirty="0"/>
              <a:t>Single command — no spreadsheet needed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4709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Demo/Product Walkthrough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505682" y="1524000"/>
            <a:ext cx="111806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Real User Flow: "Smart Stock Monitoring in Action"</a:t>
            </a:r>
          </a:p>
          <a:p>
            <a:r>
              <a:rPr lang="en-US" b="1" dirty="0"/>
              <a:t>📊 Step 1: Get AI-Powered Analysis</a:t>
            </a:r>
          </a:p>
          <a:p>
            <a:r>
              <a:rPr lang="en-US" dirty="0"/>
              <a:t>User: /analyze </a:t>
            </a:r>
            <a:r>
              <a:rPr lang="en-US" dirty="0" err="1"/>
              <a:t>infy.nse</a:t>
            </a:r>
            <a:endParaRPr lang="en-US" dirty="0"/>
          </a:p>
          <a:p>
            <a:endParaRPr lang="en-US" dirty="0"/>
          </a:p>
          <a:p>
            <a:r>
              <a:rPr lang="en-US" dirty="0"/>
              <a:t>Bot responds with:</a:t>
            </a:r>
          </a:p>
          <a:p>
            <a:r>
              <a:rPr lang="en-US" dirty="0"/>
              <a:t>📊 Price: ₹1179.7</a:t>
            </a:r>
          </a:p>
          <a:p>
            <a:r>
              <a:rPr lang="en-US" dirty="0"/>
              <a:t>📈 MA20: ₹1225.58 | MA50: ₹1261.33</a:t>
            </a:r>
          </a:p>
          <a:p>
            <a:r>
              <a:rPr lang="en-US" dirty="0"/>
              <a:t>⚡ RSI: 26.12</a:t>
            </a:r>
          </a:p>
          <a:p>
            <a:r>
              <a:rPr lang="en-US" dirty="0"/>
              <a:t>🟡 Signal: HOLD</a:t>
            </a:r>
          </a:p>
          <a:p>
            <a:endParaRPr lang="en-US" dirty="0"/>
          </a:p>
          <a:p>
            <a:r>
              <a:rPr lang="en-US" dirty="0"/>
              <a:t>🤖 AI Insight:</a:t>
            </a:r>
          </a:p>
          <a:p>
            <a:r>
              <a:rPr lang="en-US" dirty="0"/>
              <a:t>"INFY.NSE is trading at ₹1179.7, currently below </a:t>
            </a:r>
          </a:p>
          <a:p>
            <a:r>
              <a:rPr lang="en-US" dirty="0"/>
              <a:t>its 20-day MA. The short-term average is below </a:t>
            </a:r>
          </a:p>
          <a:p>
            <a:r>
              <a:rPr lang="en-US" dirty="0"/>
              <a:t>the 50-day MA, indicating a bearish trend. RSI </a:t>
            </a:r>
          </a:p>
          <a:p>
            <a:r>
              <a:rPr lang="en-US" dirty="0"/>
              <a:t>is below 30, suggesting the stock may be </a:t>
            </a:r>
          </a:p>
          <a:p>
            <a:r>
              <a:rPr lang="en-US" dirty="0"/>
              <a:t>oversold. Overall signal: HOLD."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2960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853BC0-2C5C-CAFB-058D-BA7CE84CD36D}"/>
              </a:ext>
            </a:extLst>
          </p:cNvPr>
          <p:cNvSpPr txBox="1"/>
          <p:nvPr/>
        </p:nvSpPr>
        <p:spPr>
          <a:xfrm>
            <a:off x="301841" y="461639"/>
            <a:ext cx="11603114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💼 </a:t>
            </a:r>
            <a:r>
              <a:rPr lang="en-US" b="1" dirty="0"/>
              <a:t>Step 2: Record Purchase Instantly</a:t>
            </a:r>
          </a:p>
          <a:p>
            <a:r>
              <a:rPr lang="en-IN" dirty="0"/>
              <a:t>User: /buy </a:t>
            </a:r>
            <a:r>
              <a:rPr lang="en-IN" dirty="0" err="1"/>
              <a:t>infy</a:t>
            </a:r>
            <a:r>
              <a:rPr lang="en-IN" dirty="0"/>
              <a:t> 30 450</a:t>
            </a:r>
          </a:p>
          <a:p>
            <a:r>
              <a:rPr lang="en-IN" dirty="0"/>
              <a:t>Bot: ✅ Added to portfolio!</a:t>
            </a:r>
          </a:p>
          <a:p>
            <a:r>
              <a:rPr lang="en-IN" dirty="0"/>
              <a:t>📈 INFY ×30 @ ₹450</a:t>
            </a:r>
          </a:p>
          <a:p>
            <a:endParaRPr lang="en-IN" dirty="0"/>
          </a:p>
          <a:p>
            <a:endParaRPr lang="en-US" dirty="0"/>
          </a:p>
          <a:p>
            <a:r>
              <a:rPr lang="en-US" b="1" dirty="0"/>
              <a:t>📈 Step 3: View Portfolio</a:t>
            </a:r>
          </a:p>
          <a:p>
            <a:r>
              <a:rPr lang="en-US" dirty="0"/>
              <a:t>User: /portfolio</a:t>
            </a:r>
          </a:p>
          <a:p>
            <a:r>
              <a:rPr lang="en-US" dirty="0"/>
              <a:t>Bot:</a:t>
            </a:r>
          </a:p>
          <a:p>
            <a:r>
              <a:rPr lang="en-US" dirty="0"/>
              <a:t>💼 Your Portfolio</a:t>
            </a:r>
          </a:p>
          <a:p>
            <a:r>
              <a:rPr lang="en-US" dirty="0"/>
              <a:t>────────────────</a:t>
            </a:r>
          </a:p>
          <a:p>
            <a:r>
              <a:rPr lang="en-US" dirty="0"/>
              <a:t>- INFY ×30 @ ₹450.00 (₹13500.00 invested)</a:t>
            </a:r>
          </a:p>
          <a:p>
            <a:r>
              <a:rPr lang="en-US" dirty="0"/>
              <a:t>────────────────</a:t>
            </a:r>
          </a:p>
          <a:p>
            <a:r>
              <a:rPr lang="en-US" dirty="0"/>
              <a:t>💰 Total invested: ₹13500.00</a:t>
            </a:r>
          </a:p>
          <a:p>
            <a:endParaRPr lang="en-US" dirty="0"/>
          </a:p>
          <a:p>
            <a:r>
              <a:rPr lang="en-US" b="1" dirty="0"/>
              <a:t>🔔 Step 4: Set Price Alert</a:t>
            </a:r>
            <a:r>
              <a:rPr lang="en-US" dirty="0"/>
              <a:t> </a:t>
            </a:r>
          </a:p>
          <a:p>
            <a:r>
              <a:rPr lang="en-US" dirty="0"/>
              <a:t>User: /alert </a:t>
            </a:r>
            <a:r>
              <a:rPr lang="en-US" dirty="0" err="1"/>
              <a:t>infy</a:t>
            </a:r>
            <a:r>
              <a:rPr lang="en-US" dirty="0"/>
              <a:t> 11</a:t>
            </a:r>
          </a:p>
          <a:p>
            <a:r>
              <a:rPr lang="en-US" dirty="0"/>
              <a:t>Bot: ✅ Alert set!</a:t>
            </a:r>
          </a:p>
          <a:p>
            <a:r>
              <a:rPr lang="en-US" dirty="0"/>
              <a:t>📈 INFY @ ₹11</a:t>
            </a:r>
          </a:p>
          <a:p>
            <a:r>
              <a:rPr lang="en-US" dirty="0"/>
              <a:t>ID: 1</a:t>
            </a:r>
          </a:p>
          <a:p>
            <a:r>
              <a:rPr lang="en-US" dirty="0"/>
              <a:t>You'll be notified when the price crosses this level.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1347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2AD83E-40E5-7E4C-7AAE-220FCA415B5D}"/>
              </a:ext>
            </a:extLst>
          </p:cNvPr>
          <p:cNvSpPr txBox="1"/>
          <p:nvPr/>
        </p:nvSpPr>
        <p:spPr>
          <a:xfrm>
            <a:off x="454240" y="417250"/>
            <a:ext cx="1128351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📋 Step 6: Manage All Alerts</a:t>
            </a:r>
          </a:p>
          <a:p>
            <a:r>
              <a:rPr lang="en-IN" dirty="0"/>
              <a:t>User: /alerts</a:t>
            </a:r>
          </a:p>
          <a:p>
            <a:r>
              <a:rPr lang="en-IN" dirty="0"/>
              <a:t>Bot:</a:t>
            </a:r>
          </a:p>
          <a:p>
            <a:r>
              <a:rPr lang="en-IN" dirty="0"/>
              <a:t>🔔 Your Active Alerts</a:t>
            </a:r>
          </a:p>
          <a:p>
            <a:r>
              <a:rPr lang="en-IN" dirty="0"/>
              <a:t>────────────────</a:t>
            </a:r>
          </a:p>
          <a:p>
            <a:r>
              <a:rPr lang="en-IN" dirty="0"/>
              <a:t>#1 INFY @ ₹11</a:t>
            </a:r>
          </a:p>
          <a:p>
            <a:endParaRPr lang="en-IN" dirty="0"/>
          </a:p>
          <a:p>
            <a:r>
              <a:rPr lang="en-US" dirty="0"/>
              <a:t>❓ </a:t>
            </a:r>
            <a:r>
              <a:rPr lang="en-US" b="1" dirty="0"/>
              <a:t>Step 7: Get Help Anytime</a:t>
            </a:r>
          </a:p>
          <a:p>
            <a:r>
              <a:rPr lang="en-IN" dirty="0"/>
              <a:t>User: /help</a:t>
            </a:r>
          </a:p>
          <a:p>
            <a:r>
              <a:rPr lang="en-IN" dirty="0"/>
              <a:t>Bot shows complete command list:</a:t>
            </a:r>
          </a:p>
          <a:p>
            <a:r>
              <a:rPr lang="en-IN" dirty="0"/>
              <a:t>📊 Analysis | 🚀 IPO Tracker | 🔔 Alerts | 💼 Portfolio</a:t>
            </a:r>
          </a:p>
        </p:txBody>
      </p:sp>
    </p:spTree>
    <p:extLst>
      <p:ext uri="{BB962C8B-B14F-4D97-AF65-F5344CB8AC3E}">
        <p14:creationId xmlns:p14="http://schemas.microsoft.com/office/powerpoint/2010/main" val="3526572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3FEADA1-E14F-818A-D272-B9660BF108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86100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05DD227-22E1-9465-8A19-EAA48B5572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6100" y="0"/>
            <a:ext cx="3086100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95FC7B7-3B7B-8898-2141-EB552AFA80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0"/>
            <a:ext cx="3086100" cy="6858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BB08EB5-0838-E452-89AE-77C569E357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8300" y="0"/>
            <a:ext cx="30861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138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Architecture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1084190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Tech Stack</a:t>
            </a:r>
          </a:p>
          <a:p>
            <a:r>
              <a:rPr lang="en-IN" b="1" dirty="0"/>
              <a:t>Frontend / Interface</a:t>
            </a:r>
            <a:endParaRPr lang="en-IN" dirty="0"/>
          </a:p>
          <a:p>
            <a:r>
              <a:rPr lang="en-IN" b="1" dirty="0"/>
              <a:t>Telegram Bot API</a:t>
            </a:r>
            <a:r>
              <a:rPr lang="en-IN" dirty="0"/>
              <a:t> — User interaction layer (no app needed)</a:t>
            </a:r>
          </a:p>
          <a:p>
            <a:r>
              <a:rPr lang="en-IN" b="1" dirty="0"/>
              <a:t>node-telegram-bot-</a:t>
            </a:r>
            <a:r>
              <a:rPr lang="en-IN" b="1" dirty="0" err="1"/>
              <a:t>api</a:t>
            </a:r>
            <a:r>
              <a:rPr lang="en-IN" dirty="0"/>
              <a:t> — Node.js library for bot commands</a:t>
            </a:r>
          </a:p>
          <a:p>
            <a:r>
              <a:rPr lang="en-IN" b="1" dirty="0"/>
              <a:t>Backend Services</a:t>
            </a:r>
            <a:endParaRPr lang="en-IN" dirty="0"/>
          </a:p>
          <a:p>
            <a:r>
              <a:rPr lang="en-IN" b="1" dirty="0"/>
              <a:t>Node.js (v22+)</a:t>
            </a:r>
            <a:r>
              <a:rPr lang="en-IN" dirty="0"/>
              <a:t> — Main bot orchestrator (bot.js)</a:t>
            </a:r>
          </a:p>
          <a:p>
            <a:r>
              <a:rPr lang="en-IN" b="1" dirty="0"/>
              <a:t>Python </a:t>
            </a:r>
            <a:r>
              <a:rPr lang="en-IN" b="1" dirty="0" err="1"/>
              <a:t>FastAPI</a:t>
            </a:r>
            <a:r>
              <a:rPr lang="en-IN" dirty="0"/>
              <a:t> — API endpoints for stock analysis</a:t>
            </a:r>
          </a:p>
          <a:p>
            <a:r>
              <a:rPr lang="en-IN" b="1" dirty="0"/>
              <a:t>SQLite3</a:t>
            </a:r>
            <a:r>
              <a:rPr lang="en-IN" dirty="0"/>
              <a:t> — Local database for alerts &amp; portfolio tracking</a:t>
            </a:r>
          </a:p>
          <a:p>
            <a:r>
              <a:rPr lang="en-IN" b="1" dirty="0"/>
              <a:t>AI &amp; Data Sources</a:t>
            </a:r>
            <a:endParaRPr lang="en-IN" dirty="0"/>
          </a:p>
          <a:p>
            <a:r>
              <a:rPr lang="en-IN" b="1" dirty="0"/>
              <a:t>Claude Haiku 4.5</a:t>
            </a:r>
            <a:r>
              <a:rPr lang="en-IN" dirty="0"/>
              <a:t> (claude-haiku-4-5) — Converts technical indicators to plain English</a:t>
            </a:r>
          </a:p>
          <a:p>
            <a:r>
              <a:rPr lang="en-IN" b="1" dirty="0"/>
              <a:t>Alpha Vantage API</a:t>
            </a:r>
            <a:r>
              <a:rPr lang="en-IN" dirty="0"/>
              <a:t> — Primary stock data source (Indian markets)</a:t>
            </a:r>
          </a:p>
          <a:p>
            <a:r>
              <a:rPr lang="en-IN" b="1" dirty="0"/>
              <a:t>yfinance</a:t>
            </a:r>
            <a:r>
              <a:rPr lang="en-IN" dirty="0"/>
              <a:t> — Fallback data provider for redundancy</a:t>
            </a:r>
          </a:p>
          <a:p>
            <a:r>
              <a:rPr lang="en-IN" b="1" dirty="0"/>
              <a:t>Framework</a:t>
            </a:r>
            <a:endParaRPr lang="en-IN" dirty="0"/>
          </a:p>
          <a:p>
            <a:r>
              <a:rPr lang="en-IN" b="1" dirty="0" err="1"/>
              <a:t>OpenClaw</a:t>
            </a:r>
            <a:r>
              <a:rPr lang="en-IN" dirty="0"/>
              <a:t> — Agent orchestration framework </a:t>
            </a:r>
          </a:p>
          <a:p>
            <a:pPr lvl="1"/>
            <a:r>
              <a:rPr lang="en-IN" dirty="0"/>
              <a:t>SOUL.md — Agent personality &amp; tone</a:t>
            </a:r>
          </a:p>
          <a:p>
            <a:pPr lvl="1"/>
            <a:r>
              <a:rPr lang="en-IN" dirty="0"/>
              <a:t>HEARTBEAT.md — Background price monitoring daemon</a:t>
            </a:r>
          </a:p>
          <a:p>
            <a:pPr lvl="1"/>
            <a:r>
              <a:rPr lang="en-IN" dirty="0"/>
              <a:t>Skill.md — Capability definitions</a:t>
            </a:r>
          </a:p>
        </p:txBody>
      </p:sp>
    </p:spTree>
    <p:extLst>
      <p:ext uri="{BB962C8B-B14F-4D97-AF65-F5344CB8AC3E}">
        <p14:creationId xmlns:p14="http://schemas.microsoft.com/office/powerpoint/2010/main" val="56678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862C14-0CB7-6A2F-61FA-F7DE375A9037}"/>
              </a:ext>
            </a:extLst>
          </p:cNvPr>
          <p:cNvSpPr txBox="1"/>
          <p:nvPr/>
        </p:nvSpPr>
        <p:spPr>
          <a:xfrm>
            <a:off x="355107" y="408373"/>
            <a:ext cx="1143443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 Usage Breakdown</a:t>
            </a:r>
          </a:p>
          <a:p>
            <a:r>
              <a:rPr lang="en-US" b="1" dirty="0"/>
              <a:t>1. Claude Haiku 4.5</a:t>
            </a:r>
            <a:r>
              <a:rPr lang="en-US" dirty="0"/>
              <a:t> — Real-time Analysis Explanations</a:t>
            </a:r>
          </a:p>
          <a:p>
            <a:r>
              <a:rPr lang="en-IN" dirty="0"/>
              <a:t># explain.py</a:t>
            </a:r>
          </a:p>
          <a:p>
            <a:r>
              <a:rPr lang="en-IN" dirty="0"/>
              <a:t>def </a:t>
            </a:r>
            <a:r>
              <a:rPr lang="en-IN" dirty="0" err="1"/>
              <a:t>get_ai_explanation</a:t>
            </a:r>
            <a:r>
              <a:rPr lang="en-IN" dirty="0"/>
              <a:t>(symbol, price, ma20, ma50, </a:t>
            </a:r>
            <a:r>
              <a:rPr lang="en-IN" dirty="0" err="1"/>
              <a:t>rsi</a:t>
            </a:r>
            <a:r>
              <a:rPr lang="en-IN" dirty="0"/>
              <a:t>, signal):</a:t>
            </a:r>
          </a:p>
          <a:p>
            <a:r>
              <a:rPr lang="en-IN" dirty="0"/>
              <a:t>    prompt = f"""</a:t>
            </a:r>
            <a:r>
              <a:rPr lang="en-IN" dirty="0" err="1"/>
              <a:t>Analyze</a:t>
            </a:r>
            <a:r>
              <a:rPr lang="en-IN" dirty="0"/>
              <a:t> {symbol}: Price ₹{price}, </a:t>
            </a:r>
          </a:p>
          <a:p>
            <a:r>
              <a:rPr lang="en-IN" dirty="0"/>
              <a:t>    MA20: ₹{ma20}, MA50: ₹{ma50}, RSI: {</a:t>
            </a:r>
            <a:r>
              <a:rPr lang="en-IN" dirty="0" err="1"/>
              <a:t>rsi</a:t>
            </a:r>
            <a:r>
              <a:rPr lang="en-IN" dirty="0"/>
              <a:t>}. </a:t>
            </a:r>
          </a:p>
          <a:p>
            <a:r>
              <a:rPr lang="en-IN" dirty="0"/>
              <a:t>    Explain in 2-3 sentences for a beginner investor."""</a:t>
            </a:r>
          </a:p>
          <a:p>
            <a:r>
              <a:rPr lang="en-IN" dirty="0"/>
              <a:t>    </a:t>
            </a:r>
          </a:p>
          <a:p>
            <a:r>
              <a:rPr lang="en-IN" dirty="0"/>
              <a:t>    response = </a:t>
            </a:r>
            <a:r>
              <a:rPr lang="en-IN" dirty="0" err="1"/>
              <a:t>anthropic.messages.create</a:t>
            </a:r>
            <a:r>
              <a:rPr lang="en-IN" dirty="0"/>
              <a:t>(</a:t>
            </a:r>
          </a:p>
          <a:p>
            <a:r>
              <a:rPr lang="en-IN" dirty="0"/>
              <a:t>        model="claude-haiku-4-5",</a:t>
            </a:r>
          </a:p>
          <a:p>
            <a:r>
              <a:rPr lang="en-IN" dirty="0"/>
              <a:t>        messages=[{"role": "user", "content": prompt}]</a:t>
            </a:r>
          </a:p>
          <a:p>
            <a:r>
              <a:rPr lang="en-IN" dirty="0"/>
              <a:t>    )</a:t>
            </a:r>
          </a:p>
          <a:p>
            <a:r>
              <a:rPr lang="en-IN" dirty="0"/>
              <a:t>    return </a:t>
            </a:r>
            <a:r>
              <a:rPr lang="en-IN" dirty="0" err="1"/>
              <a:t>response.content</a:t>
            </a:r>
            <a:r>
              <a:rPr lang="en-IN" dirty="0"/>
              <a:t>[0].text</a:t>
            </a:r>
          </a:p>
          <a:p>
            <a:r>
              <a:rPr lang="en-US" b="1" dirty="0"/>
              <a:t>2. Local </a:t>
            </a:r>
            <a:r>
              <a:rPr lang="en-US" b="1" dirty="0" err="1"/>
              <a:t>Ollama</a:t>
            </a:r>
            <a:r>
              <a:rPr lang="en-US" dirty="0"/>
              <a:t> </a:t>
            </a:r>
            <a:r>
              <a:rPr lang="en-US" i="1" dirty="0"/>
              <a:t>(Future/Optional)</a:t>
            </a:r>
            <a:r>
              <a:rPr lang="en-US" dirty="0"/>
              <a:t> — Offline analysis for speed</a:t>
            </a:r>
          </a:p>
          <a:p>
            <a:r>
              <a:rPr lang="en-US" b="1" dirty="0"/>
              <a:t>3. Rule-Based System</a:t>
            </a:r>
            <a:r>
              <a:rPr lang="en-US" dirty="0"/>
              <a:t> — Signal generation (BUY/SELL/HOLD)</a:t>
            </a:r>
          </a:p>
          <a:p>
            <a:r>
              <a:rPr lang="en-IN" dirty="0"/>
              <a:t>if </a:t>
            </a:r>
            <a:r>
              <a:rPr lang="en-IN" dirty="0" err="1"/>
              <a:t>rsi</a:t>
            </a:r>
            <a:r>
              <a:rPr lang="en-IN" dirty="0"/>
              <a:t> &lt; 30: signal = "🟢 BUY"</a:t>
            </a:r>
          </a:p>
          <a:p>
            <a:r>
              <a:rPr lang="en-IN" dirty="0" err="1"/>
              <a:t>elif</a:t>
            </a:r>
            <a:r>
              <a:rPr lang="en-IN" dirty="0"/>
              <a:t> </a:t>
            </a:r>
            <a:r>
              <a:rPr lang="en-IN" dirty="0" err="1"/>
              <a:t>rsi</a:t>
            </a:r>
            <a:r>
              <a:rPr lang="en-IN" dirty="0"/>
              <a:t> &gt; 70: signal = "🔴 SELL"</a:t>
            </a:r>
          </a:p>
          <a:p>
            <a:r>
              <a:rPr lang="en-IN" dirty="0"/>
              <a:t>else: signal = "🟡 HOLD"</a:t>
            </a:r>
          </a:p>
        </p:txBody>
      </p:sp>
    </p:spTree>
    <p:extLst>
      <p:ext uri="{BB962C8B-B14F-4D97-AF65-F5344CB8AC3E}">
        <p14:creationId xmlns:p14="http://schemas.microsoft.com/office/powerpoint/2010/main" val="259955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F9F9BF-D38B-88A3-542E-F11EE152DA8C}"/>
              </a:ext>
            </a:extLst>
          </p:cNvPr>
          <p:cNvSpPr txBox="1"/>
          <p:nvPr/>
        </p:nvSpPr>
        <p:spPr>
          <a:xfrm>
            <a:off x="248575" y="346229"/>
            <a:ext cx="11638625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┌─────────────────┐</a:t>
            </a:r>
          </a:p>
          <a:p>
            <a:r>
              <a:rPr lang="en-IN" dirty="0"/>
              <a:t>│  Telegram User  │</a:t>
            </a:r>
          </a:p>
          <a:p>
            <a:r>
              <a:rPr lang="en-IN" dirty="0"/>
              <a:t>│  "Hey, can I use │  /</a:t>
            </a:r>
            <a:r>
              <a:rPr lang="en-IN" dirty="0" err="1"/>
              <a:t>analyze</a:t>
            </a:r>
            <a:r>
              <a:rPr lang="en-IN" dirty="0"/>
              <a:t> INFY</a:t>
            </a:r>
          </a:p>
          <a:p>
            <a:r>
              <a:rPr lang="en-IN" dirty="0"/>
              <a:t>│   this slide?"  │ ────────────────────────┐</a:t>
            </a:r>
          </a:p>
          <a:p>
            <a:r>
              <a:rPr lang="en-IN" dirty="0"/>
              <a:t>└─────────────────┘                         │</a:t>
            </a:r>
          </a:p>
          <a:p>
            <a:r>
              <a:rPr lang="en-IN" dirty="0"/>
              <a:t>                                            ▼</a:t>
            </a:r>
          </a:p>
          <a:p>
            <a:r>
              <a:rPr lang="en-IN" dirty="0"/>
              <a:t>                                  ┌──────────────────┐</a:t>
            </a:r>
          </a:p>
          <a:p>
            <a:r>
              <a:rPr lang="en-IN" dirty="0"/>
              <a:t>                                  │   Node.js Bot    │</a:t>
            </a:r>
          </a:p>
          <a:p>
            <a:r>
              <a:rPr lang="en-IN" dirty="0"/>
              <a:t>                                  │   (bot.js)       │</a:t>
            </a:r>
          </a:p>
          <a:p>
            <a:r>
              <a:rPr lang="en-IN" dirty="0"/>
              <a:t>                                  │  • Command parser│</a:t>
            </a:r>
          </a:p>
          <a:p>
            <a:r>
              <a:rPr lang="en-IN" dirty="0"/>
              <a:t>                                  │  • SQLite CRUD   │</a:t>
            </a:r>
          </a:p>
          <a:p>
            <a:r>
              <a:rPr lang="en-IN" dirty="0"/>
              <a:t>                                  │  • Alert daemon  │</a:t>
            </a:r>
          </a:p>
          <a:p>
            <a:r>
              <a:rPr lang="en-IN" dirty="0"/>
              <a:t>                                  └────────┬─────────┘</a:t>
            </a:r>
          </a:p>
          <a:p>
            <a:r>
              <a:rPr lang="en-IN" dirty="0"/>
              <a:t>                                           │ HTTP (</a:t>
            </a:r>
            <a:r>
              <a:rPr lang="en-IN" dirty="0" err="1"/>
              <a:t>axios</a:t>
            </a:r>
            <a:r>
              <a:rPr lang="en-IN" dirty="0"/>
              <a:t>)</a:t>
            </a:r>
          </a:p>
          <a:p>
            <a:r>
              <a:rPr lang="en-IN" dirty="0"/>
              <a:t>                                           ▼</a:t>
            </a:r>
          </a:p>
          <a:p>
            <a:r>
              <a:rPr lang="en-IN" dirty="0"/>
              <a:t>                                  ┌──────────────────┐</a:t>
            </a:r>
          </a:p>
          <a:p>
            <a:r>
              <a:rPr lang="en-IN" dirty="0"/>
              <a:t>                                  │ Python </a:t>
            </a:r>
            <a:r>
              <a:rPr lang="en-IN" dirty="0" err="1"/>
              <a:t>FastAPI</a:t>
            </a:r>
            <a:r>
              <a:rPr lang="en-IN" dirty="0"/>
              <a:t>   │</a:t>
            </a:r>
          </a:p>
          <a:p>
            <a:r>
              <a:rPr lang="en-IN" dirty="0"/>
              <a:t>                                  │ (localhost:8000) │</a:t>
            </a:r>
          </a:p>
          <a:p>
            <a:r>
              <a:rPr lang="en-IN" dirty="0"/>
              <a:t>                                  │  • analysis.py   │</a:t>
            </a:r>
          </a:p>
          <a:p>
            <a:r>
              <a:rPr lang="en-IN" dirty="0"/>
              <a:t>                                  │  • explain.py    │</a:t>
            </a:r>
          </a:p>
          <a:p>
            <a:r>
              <a:rPr lang="en-IN" dirty="0"/>
              <a:t>                                  └────┬────────┬────┘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0254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AE7BA5-4D97-A75D-54A8-915B9A7CB184}"/>
              </a:ext>
            </a:extLst>
          </p:cNvPr>
          <p:cNvSpPr txBox="1"/>
          <p:nvPr/>
        </p:nvSpPr>
        <p:spPr>
          <a:xfrm>
            <a:off x="275208" y="408373"/>
            <a:ext cx="11683013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│        │</a:t>
            </a:r>
          </a:p>
          <a:p>
            <a:r>
              <a:rPr lang="en-IN" dirty="0"/>
              <a:t>                    ┌──────────────────┘        └──────────────────┐</a:t>
            </a:r>
          </a:p>
          <a:p>
            <a:r>
              <a:rPr lang="en-IN" dirty="0"/>
              <a:t>                    ▼                                              ▼</a:t>
            </a:r>
          </a:p>
          <a:p>
            <a:r>
              <a:rPr lang="en-IN" dirty="0"/>
              <a:t>          ┌─────────────────┐                          ┌─────────────────┐</a:t>
            </a:r>
          </a:p>
          <a:p>
            <a:r>
              <a:rPr lang="en-IN" dirty="0"/>
              <a:t>          │ Alpha Vantage   │                          │ Claude Haiku    │</a:t>
            </a:r>
          </a:p>
          <a:p>
            <a:r>
              <a:rPr lang="en-IN" dirty="0"/>
              <a:t>          │ </a:t>
            </a:r>
            <a:r>
              <a:rPr lang="en-IN" dirty="0">
                <a:solidFill>
                  <a:schemeClr val="bg1"/>
                </a:solidFill>
              </a:rPr>
              <a:t>+ yfinance      </a:t>
            </a:r>
            <a:r>
              <a:rPr lang="en-IN" dirty="0"/>
              <a:t>│                          │ API             │</a:t>
            </a:r>
          </a:p>
          <a:p>
            <a:r>
              <a:rPr lang="en-IN" dirty="0"/>
              <a:t>          │ (Stock Data)    │                          │ (AI Insights)   │</a:t>
            </a:r>
          </a:p>
          <a:p>
            <a:r>
              <a:rPr lang="en-IN" dirty="0"/>
              <a:t>          └─────────────────┘                          └─────────────────┘</a:t>
            </a:r>
          </a:p>
          <a:p>
            <a:r>
              <a:rPr lang="en-IN" dirty="0"/>
              <a:t>                    │                                              │</a:t>
            </a:r>
          </a:p>
          <a:p>
            <a:r>
              <a:rPr lang="en-IN" dirty="0"/>
              <a:t>                    └──────────────────┬───────────────────────────┘</a:t>
            </a:r>
          </a:p>
          <a:p>
            <a:r>
              <a:rPr lang="en-IN" dirty="0"/>
              <a:t>                                       ▼</a:t>
            </a:r>
          </a:p>
          <a:p>
            <a:r>
              <a:rPr lang="en-IN" dirty="0"/>
              <a:t>                            ┌─────────────────────┐</a:t>
            </a:r>
          </a:p>
          <a:p>
            <a:r>
              <a:rPr lang="en-IN" dirty="0"/>
              <a:t>                            │  Response to User   │</a:t>
            </a:r>
          </a:p>
          <a:p>
            <a:r>
              <a:rPr lang="en-IN" dirty="0"/>
              <a:t>                            │  📊 Technical data  │</a:t>
            </a:r>
          </a:p>
          <a:p>
            <a:r>
              <a:rPr lang="en-IN" dirty="0"/>
              <a:t>                            │  🤖 AI explanation  │</a:t>
            </a:r>
          </a:p>
          <a:p>
            <a:r>
              <a:rPr lang="en-IN" dirty="0"/>
              <a:t>                            └─────────────────────┘</a:t>
            </a:r>
          </a:p>
          <a:p>
            <a:endParaRPr lang="en-IN" dirty="0"/>
          </a:p>
          <a:p>
            <a:r>
              <a:rPr lang="en-IN" dirty="0"/>
              <a:t>┌────────────────────────────────────────────────────────────────┐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rPr lang="en-IN" dirty="0"/>
              <a:t>│  Background Heartbeat (Every 2 minutes)                        │</a:t>
            </a:r>
          </a:p>
          <a:p>
            <a:r>
              <a:rPr lang="en-IN" dirty="0"/>
              <a:t>│  ─────────────────────────────────────────────────────────     │</a:t>
            </a:r>
          </a:p>
          <a:p>
            <a:r>
              <a:rPr lang="en-IN" dirty="0"/>
              <a:t>│  Node.js → Check SQLite alerts → Fetch prices → Compare →      │</a:t>
            </a:r>
          </a:p>
          <a:p>
            <a:r>
              <a:rPr lang="en-IN" dirty="0"/>
              <a:t>│  Send Telegram notification if target hit                      │</a:t>
            </a:r>
          </a:p>
          <a:p>
            <a:r>
              <a:rPr lang="en-IN" dirty="0"/>
              <a:t>└────────────────────────────────────────────────────────────────┘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1000127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Use cases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1166160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Real-Life Scenarios</a:t>
            </a:r>
          </a:p>
          <a:p>
            <a:r>
              <a:rPr lang="en-IN" b="1" dirty="0"/>
              <a:t>🎯 Use Case 1: "The Busy Professional"</a:t>
            </a:r>
            <a:r>
              <a:rPr lang="en-IN" dirty="0"/>
              <a:t> </a:t>
            </a:r>
            <a:r>
              <a:rPr lang="en-IN" b="1" dirty="0"/>
              <a:t>Persona:</a:t>
            </a:r>
            <a:r>
              <a:rPr lang="en-IN" dirty="0"/>
              <a:t> Priya, 29, Product Manager at Flipkart, Bangalore</a:t>
            </a:r>
            <a:br>
              <a:rPr lang="en-IN" dirty="0"/>
            </a:br>
            <a:r>
              <a:rPr lang="en-IN" b="1" dirty="0"/>
              <a:t>Problem:</a:t>
            </a:r>
            <a:r>
              <a:rPr lang="en-IN" dirty="0"/>
              <a:t> Wants to buy Infosys at ₹1,200 but stuck in back-to-back meetings 9 AM-6 PM</a:t>
            </a:r>
            <a:br>
              <a:rPr lang="en-IN" dirty="0"/>
            </a:br>
            <a:r>
              <a:rPr lang="en-IN" b="1" dirty="0"/>
              <a:t>Solution:</a:t>
            </a:r>
            <a:r>
              <a:rPr lang="en-IN" dirty="0"/>
              <a:t> Sets /alert INFY 1200 → Bot monitors 24/7 → Notification fires at 2:47 PM when INFY hits ₹1,198 → Buys during 5-min break</a:t>
            </a:r>
            <a:br>
              <a:rPr lang="en-IN" dirty="0"/>
            </a:br>
            <a:r>
              <a:rPr lang="en-IN" b="1" dirty="0"/>
              <a:t>Impact:</a:t>
            </a:r>
            <a:r>
              <a:rPr lang="en-IN" dirty="0"/>
              <a:t> Saved ₹2,000 (missed buying at ₹1,250 last time due to delayed checking)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🎓 Use Case 2: "The Learning Investor"</a:t>
            </a:r>
            <a:r>
              <a:rPr lang="en-IN" dirty="0"/>
              <a:t> </a:t>
            </a:r>
            <a:r>
              <a:rPr lang="en-IN" b="1" dirty="0"/>
              <a:t>Persona:</a:t>
            </a:r>
            <a:r>
              <a:rPr lang="en-IN" dirty="0"/>
              <a:t> Arjun, 24, fresher at TCS, first ₹50K investment</a:t>
            </a:r>
            <a:br>
              <a:rPr lang="en-IN" dirty="0"/>
            </a:br>
            <a:r>
              <a:rPr lang="en-IN" b="1" dirty="0"/>
              <a:t>Problem:</a:t>
            </a:r>
            <a:r>
              <a:rPr lang="en-IN" dirty="0"/>
              <a:t> Sees "RSI: 68, MACD: -3.2" on </a:t>
            </a:r>
            <a:r>
              <a:rPr lang="en-IN" dirty="0" err="1"/>
              <a:t>Zerodha</a:t>
            </a:r>
            <a:r>
              <a:rPr lang="en-IN" dirty="0"/>
              <a:t> → Has no idea what it means → Makes random decisions</a:t>
            </a:r>
            <a:br>
              <a:rPr lang="en-IN" dirty="0"/>
            </a:br>
            <a:r>
              <a:rPr lang="en-IN" b="1" dirty="0"/>
              <a:t>Solution:</a:t>
            </a:r>
            <a:r>
              <a:rPr lang="en-IN" dirty="0"/>
              <a:t> Types /</a:t>
            </a:r>
            <a:r>
              <a:rPr lang="en-IN" dirty="0" err="1"/>
              <a:t>analyze</a:t>
            </a:r>
            <a:r>
              <a:rPr lang="en-IN" dirty="0"/>
              <a:t> TCS → Gets "RSI 68 suggests stock may be overbought, consider waiting for a dip"</a:t>
            </a:r>
            <a:br>
              <a:rPr lang="en-IN" dirty="0"/>
            </a:br>
            <a:r>
              <a:rPr lang="en-IN" b="1" dirty="0"/>
              <a:t>Impact:</a:t>
            </a:r>
            <a:r>
              <a:rPr lang="en-IN" dirty="0"/>
              <a:t> Makes informed decisions without finance degree → Confidence to invest more → Financial literacy improved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💼 Use Case 3: "The Multi-Stock Tracker"</a:t>
            </a:r>
            <a:r>
              <a:rPr lang="en-IN" dirty="0"/>
              <a:t> </a:t>
            </a:r>
            <a:r>
              <a:rPr lang="en-IN" b="1" dirty="0"/>
              <a:t>Persona:</a:t>
            </a:r>
            <a:r>
              <a:rPr lang="en-IN" dirty="0"/>
              <a:t> Vikram, 35, owns 12 different stocks across IT, pharma, energy sectors</a:t>
            </a:r>
            <a:br>
              <a:rPr lang="en-IN" dirty="0"/>
            </a:br>
            <a:r>
              <a:rPr lang="en-IN" b="1" dirty="0"/>
              <a:t>Problem:</a:t>
            </a:r>
            <a:r>
              <a:rPr lang="en-IN" dirty="0"/>
              <a:t> Tracks portfolio on Excel → Manual price updates → Constantly miscalculates average buy price</a:t>
            </a:r>
            <a:br>
              <a:rPr lang="en-IN" dirty="0"/>
            </a:br>
            <a:r>
              <a:rPr lang="en-IN" b="1" dirty="0"/>
              <a:t>Solution:</a:t>
            </a:r>
            <a:r>
              <a:rPr lang="en-IN" dirty="0"/>
              <a:t> /buy TCS 50 3500, /buy RELIANCE 30 2820 → /portfolio shows real-time P&amp;L with current prices</a:t>
            </a:r>
            <a:br>
              <a:rPr lang="en-IN" dirty="0"/>
            </a:br>
            <a:r>
              <a:rPr lang="en-IN" b="1" dirty="0"/>
              <a:t>Impact:</a:t>
            </a:r>
            <a:r>
              <a:rPr lang="en-IN" dirty="0"/>
              <a:t> Eliminated 1 hour/week of Excel drudgery → Accurate P&amp;L in 2 seconds</a:t>
            </a:r>
          </a:p>
          <a:p>
            <a:br>
              <a:rPr lang="en-IN" dirty="0"/>
            </a:b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73580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21FFB5-5116-458F-A434-A01044F6EDCC}"/>
              </a:ext>
            </a:extLst>
          </p:cNvPr>
          <p:cNvSpPr txBox="1"/>
          <p:nvPr/>
        </p:nvSpPr>
        <p:spPr>
          <a:xfrm>
            <a:off x="186431" y="221942"/>
            <a:ext cx="11807301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🚀 Use Case 4: "The IPO Hunter"</a:t>
            </a:r>
            <a:r>
              <a:rPr lang="en-IN" dirty="0"/>
              <a:t> </a:t>
            </a:r>
            <a:r>
              <a:rPr lang="en-IN" b="1" dirty="0"/>
              <a:t>Persona:</a:t>
            </a:r>
            <a:r>
              <a:rPr lang="en-IN" dirty="0"/>
              <a:t> Neha, 27, interested in newly listed companies</a:t>
            </a:r>
            <a:br>
              <a:rPr lang="en-IN" dirty="0"/>
            </a:br>
            <a:r>
              <a:rPr lang="en-IN" b="1" dirty="0"/>
              <a:t>Problem:</a:t>
            </a:r>
            <a:r>
              <a:rPr lang="en-IN" dirty="0"/>
              <a:t> Googles "recent IPOs India" → Gets outdated listing sites → Prices are from yesterday</a:t>
            </a:r>
            <a:br>
              <a:rPr lang="en-IN" dirty="0"/>
            </a:br>
            <a:r>
              <a:rPr lang="en-IN" b="1" dirty="0"/>
              <a:t>Solution:</a:t>
            </a:r>
            <a:r>
              <a:rPr lang="en-IN" dirty="0"/>
              <a:t> /</a:t>
            </a:r>
            <a:r>
              <a:rPr lang="en-IN" dirty="0" err="1"/>
              <a:t>ipo</a:t>
            </a:r>
            <a:r>
              <a:rPr lang="en-IN" dirty="0"/>
              <a:t> → Live prices for 8 recent IPOs (Swiggy ₹280.5 +0.36%, Hyundai ₹1852.8 +0.93%)</a:t>
            </a:r>
            <a:br>
              <a:rPr lang="en-IN" dirty="0"/>
            </a:br>
            <a:r>
              <a:rPr lang="en-IN" b="1" dirty="0"/>
              <a:t>Impact:</a:t>
            </a:r>
            <a:r>
              <a:rPr lang="en-IN" dirty="0"/>
              <a:t> Discovered </a:t>
            </a:r>
            <a:r>
              <a:rPr lang="en-IN" dirty="0" err="1"/>
              <a:t>Sagility</a:t>
            </a:r>
            <a:r>
              <a:rPr lang="en-IN" dirty="0"/>
              <a:t> India at ₹44.19 (+3.22%) on listing day → Early entry opportunity</a:t>
            </a:r>
          </a:p>
          <a:p>
            <a:r>
              <a:rPr lang="en-IN" b="1" dirty="0"/>
              <a:t>Scale Potential</a:t>
            </a:r>
          </a:p>
          <a:p>
            <a:r>
              <a:rPr lang="en-IN" b="1" dirty="0"/>
              <a:t>📊 Current TAM (Total Addressable Market)</a:t>
            </a:r>
            <a:endParaRPr lang="en-IN" dirty="0"/>
          </a:p>
          <a:p>
            <a:r>
              <a:rPr lang="en-IN" b="1" dirty="0"/>
              <a:t>163M demat accounts in India</a:t>
            </a:r>
            <a:r>
              <a:rPr lang="en-IN" dirty="0"/>
              <a:t> (SEBI 2024)</a:t>
            </a:r>
          </a:p>
          <a:p>
            <a:r>
              <a:rPr lang="en-IN" dirty="0"/>
              <a:t>Only </a:t>
            </a:r>
            <a:r>
              <a:rPr lang="en-IN" b="1" dirty="0"/>
              <a:t>3M active traders</a:t>
            </a:r>
            <a:r>
              <a:rPr lang="en-IN" dirty="0"/>
              <a:t> → 160M inactive accounts</a:t>
            </a:r>
          </a:p>
          <a:p>
            <a:r>
              <a:rPr lang="en-IN" b="1" dirty="0"/>
              <a:t>Why inactive?</a:t>
            </a:r>
            <a:r>
              <a:rPr lang="en-IN" dirty="0"/>
              <a:t> Complexity, cost, time commitment</a:t>
            </a:r>
          </a:p>
          <a:p>
            <a:r>
              <a:rPr lang="en-IN" b="1" dirty="0"/>
              <a:t>Our opportunity:</a:t>
            </a:r>
            <a:r>
              <a:rPr lang="en-IN" dirty="0"/>
              <a:t> Convert inactive → active with frictionless access</a:t>
            </a:r>
          </a:p>
          <a:p>
            <a:r>
              <a:rPr lang="en-IN" b="1" dirty="0"/>
              <a:t>🌍 Expansion Roadmap</a:t>
            </a:r>
            <a:endParaRPr lang="en-IN" dirty="0"/>
          </a:p>
          <a:p>
            <a:r>
              <a:rPr lang="en-IN" b="1" dirty="0"/>
              <a:t>Phase 1 (MVP — Hackathon):</a:t>
            </a:r>
            <a:r>
              <a:rPr lang="en-IN" dirty="0"/>
              <a:t> Indian stocks, basic alerts, technical analysis → </a:t>
            </a:r>
            <a:r>
              <a:rPr lang="en-IN" b="1" dirty="0"/>
              <a:t>Target: 1,000 beta users</a:t>
            </a:r>
            <a:endParaRPr lang="en-IN" dirty="0"/>
          </a:p>
          <a:p>
            <a:r>
              <a:rPr lang="en-IN" b="1" dirty="0"/>
              <a:t>Phase 2 (6 months):</a:t>
            </a:r>
            <a:endParaRPr lang="en-IN" dirty="0"/>
          </a:p>
          <a:p>
            <a:r>
              <a:rPr lang="en-IN" dirty="0"/>
              <a:t>Multi-language (Hindi, Tamil, Telugu) → Reach tier 2/3 cities</a:t>
            </a:r>
          </a:p>
          <a:p>
            <a:r>
              <a:rPr lang="en-IN" dirty="0"/>
              <a:t>WhatsApp integration (2B users vs Telegram's 900M)</a:t>
            </a:r>
          </a:p>
          <a:p>
            <a:r>
              <a:rPr lang="en-IN" dirty="0"/>
              <a:t>News sentiment analysis ("Reliance Q4 earnings beat → Bullish signal")</a:t>
            </a:r>
          </a:p>
          <a:p>
            <a:r>
              <a:rPr lang="en-IN" b="1" dirty="0"/>
              <a:t>Target: 50,000 users</a:t>
            </a:r>
            <a:endParaRPr lang="en-IN" dirty="0"/>
          </a:p>
          <a:p>
            <a:r>
              <a:rPr lang="en-IN" b="1" dirty="0"/>
              <a:t>Phase 3 (12 months):</a:t>
            </a:r>
            <a:endParaRPr lang="en-IN" dirty="0"/>
          </a:p>
          <a:p>
            <a:r>
              <a:rPr lang="en-IN" dirty="0"/>
              <a:t>US stocks (NASDAQ, NYSE) via Alpaca API</a:t>
            </a:r>
          </a:p>
          <a:p>
            <a:r>
              <a:rPr lang="en-IN" dirty="0"/>
              <a:t>Crypto tracking (Bitcoin, Ethereum alerts)</a:t>
            </a:r>
          </a:p>
          <a:p>
            <a:r>
              <a:rPr lang="en-IN" dirty="0"/>
              <a:t>Voice commands ("Alexa, ask IPO Pulse about Tesla")</a:t>
            </a:r>
          </a:p>
          <a:p>
            <a:r>
              <a:rPr lang="en-IN" dirty="0"/>
              <a:t>Premium tier: ₹99/month for advanced screeners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19586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47F518-7A35-6736-3290-0F70EC11BDFC}"/>
              </a:ext>
            </a:extLst>
          </p:cNvPr>
          <p:cNvSpPr txBox="1"/>
          <p:nvPr/>
        </p:nvSpPr>
        <p:spPr>
          <a:xfrm>
            <a:off x="213064" y="257452"/>
            <a:ext cx="1176291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Target: 500,000 users → ₹50L MRR</a:t>
            </a:r>
            <a:endParaRPr lang="en-IN" dirty="0"/>
          </a:p>
          <a:p>
            <a:r>
              <a:rPr lang="en-IN" b="1" dirty="0"/>
              <a:t>Phase 4 (24 months):</a:t>
            </a:r>
            <a:endParaRPr lang="en-IN" dirty="0"/>
          </a:p>
          <a:p>
            <a:r>
              <a:rPr lang="en-IN" dirty="0"/>
              <a:t>B2B offering for brokerage firms (white-label bot)</a:t>
            </a:r>
          </a:p>
          <a:p>
            <a:r>
              <a:rPr lang="en-IN" dirty="0"/>
              <a:t>Social trading ("Follow Rahul's portfolio → auto-copy trades")</a:t>
            </a:r>
          </a:p>
          <a:p>
            <a:r>
              <a:rPr lang="en-IN" dirty="0"/>
              <a:t>Regulatory approvals for trade execution (SEBI license)</a:t>
            </a:r>
          </a:p>
          <a:p>
            <a:r>
              <a:rPr lang="en-IN" b="1" dirty="0"/>
              <a:t>Target: 2M users → Partner with </a:t>
            </a:r>
            <a:r>
              <a:rPr lang="en-IN" b="1" dirty="0" err="1"/>
              <a:t>Zerodha</a:t>
            </a:r>
            <a:r>
              <a:rPr lang="en-IN" b="1" dirty="0"/>
              <a:t>/</a:t>
            </a:r>
            <a:r>
              <a:rPr lang="en-IN" b="1" dirty="0" err="1"/>
              <a:t>Groww</a:t>
            </a:r>
            <a:endParaRPr lang="en-IN" dirty="0"/>
          </a:p>
          <a:p>
            <a:r>
              <a:rPr lang="en-IN" b="1" dirty="0"/>
              <a:t>💰 Monetization (Future)</a:t>
            </a:r>
            <a:endParaRPr lang="en-IN" dirty="0"/>
          </a:p>
          <a:p>
            <a:r>
              <a:rPr lang="en-IN" b="1" dirty="0"/>
              <a:t>Freemium model:</a:t>
            </a:r>
            <a:r>
              <a:rPr lang="en-IN" dirty="0"/>
              <a:t> Basic features free, premium ₹99/month (advanced screeners, instant alerts)</a:t>
            </a:r>
          </a:p>
          <a:p>
            <a:r>
              <a:rPr lang="en-IN" b="1" dirty="0"/>
              <a:t>Affiliate commissions:</a:t>
            </a:r>
            <a:r>
              <a:rPr lang="en-IN" dirty="0"/>
              <a:t> Earn ₹200-500 per referred user who opens demat account</a:t>
            </a:r>
          </a:p>
          <a:p>
            <a:r>
              <a:rPr lang="en-IN" b="1" dirty="0"/>
              <a:t>B2B licensing:</a:t>
            </a:r>
            <a:r>
              <a:rPr lang="en-IN" dirty="0"/>
              <a:t> ₹10L-50L/year per brokerage firm for white-label deployment</a:t>
            </a:r>
          </a:p>
          <a:p>
            <a:r>
              <a:rPr lang="en-IN" b="1" dirty="0"/>
              <a:t>🌐 Why This Scales</a:t>
            </a:r>
            <a:r>
              <a:rPr lang="en-IN" dirty="0"/>
              <a:t> ✅ </a:t>
            </a:r>
            <a:r>
              <a:rPr lang="en-IN" b="1" dirty="0"/>
              <a:t>Zero marginal cost</a:t>
            </a:r>
            <a:r>
              <a:rPr lang="en-IN" dirty="0"/>
              <a:t> → Bot runs on cloud, scales to 1M users with same infra</a:t>
            </a:r>
            <a:br>
              <a:rPr lang="en-IN" dirty="0"/>
            </a:br>
            <a:r>
              <a:rPr lang="en-IN" dirty="0"/>
              <a:t>✅ </a:t>
            </a:r>
            <a:r>
              <a:rPr lang="en-IN" b="1" dirty="0"/>
              <a:t>Network effects</a:t>
            </a:r>
            <a:r>
              <a:rPr lang="en-IN" dirty="0"/>
              <a:t> → Users share commands with friends ("Try /</a:t>
            </a:r>
            <a:r>
              <a:rPr lang="en-IN" dirty="0" err="1"/>
              <a:t>analyze</a:t>
            </a:r>
            <a:r>
              <a:rPr lang="en-IN" dirty="0"/>
              <a:t> INFY")</a:t>
            </a:r>
            <a:br>
              <a:rPr lang="en-IN" dirty="0"/>
            </a:br>
            <a:r>
              <a:rPr lang="en-IN" dirty="0"/>
              <a:t>✅ </a:t>
            </a:r>
            <a:r>
              <a:rPr lang="en-IN" b="1" dirty="0"/>
              <a:t>Platform leverage</a:t>
            </a:r>
            <a:r>
              <a:rPr lang="en-IN" dirty="0"/>
              <a:t> → Telegram has 500M+ Indian users already</a:t>
            </a:r>
            <a:br>
              <a:rPr lang="en-IN" dirty="0"/>
            </a:br>
            <a:r>
              <a:rPr lang="en-IN" dirty="0"/>
              <a:t>✅ </a:t>
            </a:r>
            <a:r>
              <a:rPr lang="en-IN" b="1" dirty="0"/>
              <a:t>Viral potential</a:t>
            </a:r>
            <a:r>
              <a:rPr lang="en-IN" dirty="0"/>
              <a:t> → Every alert notification is free marketing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16208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1126211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Why IPO Pulse Stands Out</a:t>
            </a:r>
          </a:p>
          <a:p>
            <a:r>
              <a:rPr lang="en-IN" b="1" dirty="0"/>
              <a:t>We're not just "another stock app" — we've built sustainable competitive advantages that are hard to replicate.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MOAT #1: Platform Leverage + Zero Friction = Network Lock-In</a:t>
            </a:r>
          </a:p>
          <a:p>
            <a:r>
              <a:rPr lang="en-IN" b="1" dirty="0"/>
              <a:t>The Advantage:</a:t>
            </a:r>
            <a:endParaRPr lang="en-IN" dirty="0"/>
          </a:p>
          <a:p>
            <a:r>
              <a:rPr lang="en-IN" b="1" dirty="0"/>
              <a:t>No app download</a:t>
            </a:r>
            <a:r>
              <a:rPr lang="en-IN" dirty="0"/>
              <a:t> → Users already have Telegram (500M+ Indians)</a:t>
            </a:r>
          </a:p>
          <a:p>
            <a:r>
              <a:rPr lang="en-IN" b="1" dirty="0"/>
              <a:t>Instant onboarding</a:t>
            </a:r>
            <a:r>
              <a:rPr lang="en-IN" dirty="0"/>
              <a:t> → /start = you're in (vs. 5-min signup flow in traditional apps)</a:t>
            </a:r>
          </a:p>
          <a:p>
            <a:r>
              <a:rPr lang="en-IN" b="1" dirty="0"/>
              <a:t>Viral coefficient</a:t>
            </a:r>
            <a:r>
              <a:rPr lang="en-IN" dirty="0"/>
              <a:t> → Every command can be screenshot-shared → "Try /</a:t>
            </a:r>
            <a:r>
              <a:rPr lang="en-IN" dirty="0" err="1"/>
              <a:t>analyze</a:t>
            </a:r>
            <a:r>
              <a:rPr lang="en-IN" dirty="0"/>
              <a:t> INFY"</a:t>
            </a:r>
          </a:p>
          <a:p>
            <a:r>
              <a:rPr lang="en-IN" b="1" dirty="0"/>
              <a:t>Why Competitors Can't Copy:</a:t>
            </a:r>
            <a:endParaRPr lang="en-IN" dirty="0"/>
          </a:p>
          <a:p>
            <a:r>
              <a:rPr lang="en-IN" b="1" dirty="0" err="1"/>
              <a:t>Zerodha</a:t>
            </a:r>
            <a:r>
              <a:rPr lang="en-IN" b="1" dirty="0"/>
              <a:t>/</a:t>
            </a:r>
            <a:r>
              <a:rPr lang="en-IN" b="1" dirty="0" err="1"/>
              <a:t>Groww</a:t>
            </a:r>
            <a:r>
              <a:rPr lang="en-IN" b="1" dirty="0"/>
              <a:t> must protect their apps</a:t>
            </a:r>
            <a:r>
              <a:rPr lang="en-IN" dirty="0"/>
              <a:t> → Can't abandon 50MB standalone apps with years of dev investment</a:t>
            </a:r>
          </a:p>
          <a:p>
            <a:r>
              <a:rPr lang="en-IN" b="1" dirty="0"/>
              <a:t>They need you locked in their ecosystem</a:t>
            </a:r>
            <a:r>
              <a:rPr lang="en-IN" dirty="0"/>
              <a:t> → Putting features in Telegram = giving up user data/control</a:t>
            </a:r>
          </a:p>
          <a:p>
            <a:r>
              <a:rPr lang="en-IN" b="1" dirty="0"/>
              <a:t>We have nothing to lose</a:t>
            </a:r>
            <a:r>
              <a:rPr lang="en-IN" dirty="0"/>
              <a:t> → We </a:t>
            </a:r>
            <a:r>
              <a:rPr lang="en-IN" i="1" dirty="0"/>
              <a:t>started</a:t>
            </a:r>
            <a:r>
              <a:rPr lang="en-IN" dirty="0"/>
              <a:t> as a lightweight bot → our entire value prop is </a:t>
            </a:r>
            <a:r>
              <a:rPr lang="en-IN" dirty="0" err="1"/>
              <a:t>frictionlessness</a:t>
            </a:r>
            <a:endParaRPr lang="en-IN" dirty="0"/>
          </a:p>
          <a:p>
            <a:r>
              <a:rPr lang="en-IN" b="1" dirty="0"/>
              <a:t>The Moat:</a:t>
            </a:r>
            <a:r>
              <a:rPr lang="en-IN" dirty="0"/>
              <a:t> Once users save /</a:t>
            </a:r>
            <a:r>
              <a:rPr lang="en-IN" dirty="0" err="1"/>
              <a:t>analyze</a:t>
            </a:r>
            <a:r>
              <a:rPr lang="en-IN" dirty="0"/>
              <a:t>, /portfolio, /alert as muscle memory in Telegram → </a:t>
            </a:r>
            <a:r>
              <a:rPr lang="en-IN" b="1" dirty="0"/>
              <a:t>switching cost is HIGH</a:t>
            </a:r>
            <a:r>
              <a:rPr lang="en-IN" dirty="0"/>
              <a:t> even if competitor launches similar bot. Telegram is their "financial command </a:t>
            </a:r>
            <a:r>
              <a:rPr lang="en-IN" dirty="0" err="1"/>
              <a:t>center</a:t>
            </a:r>
            <a:r>
              <a:rPr lang="en-IN" dirty="0"/>
              <a:t>" now.</a:t>
            </a:r>
          </a:p>
          <a:p>
            <a:r>
              <a:rPr lang="en-IN" b="1" dirty="0"/>
              <a:t>Data Point:</a:t>
            </a:r>
            <a:r>
              <a:rPr lang="en-IN" dirty="0"/>
              <a:t> WhatsApp Business API costs ₹0.30-1.20 per message for competitors → Our Telegram bot is FREE → </a:t>
            </a:r>
            <a:r>
              <a:rPr lang="en-IN" b="1" dirty="0"/>
              <a:t>Cost moat on top of convenience moat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64258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A156FE-65A5-901F-A594-5BB6FBBDAB4A}"/>
              </a:ext>
            </a:extLst>
          </p:cNvPr>
          <p:cNvSpPr txBox="1"/>
          <p:nvPr/>
        </p:nvSpPr>
        <p:spPr>
          <a:xfrm>
            <a:off x="230819" y="310718"/>
            <a:ext cx="1167413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MOAT #2: AI-First Architecture = Continuous Improvement Flywheel</a:t>
            </a:r>
          </a:p>
          <a:p>
            <a:r>
              <a:rPr lang="en-IN" b="1" dirty="0"/>
              <a:t>The Advantage:</a:t>
            </a:r>
            <a:endParaRPr lang="en-IN" dirty="0"/>
          </a:p>
          <a:p>
            <a:r>
              <a:rPr lang="en-IN" b="1" dirty="0"/>
              <a:t>AI translates jargon to decisions</a:t>
            </a:r>
            <a:r>
              <a:rPr lang="en-IN" dirty="0"/>
              <a:t> → "RSI 68" → "Stock may be overbought, consider waiting"</a:t>
            </a:r>
          </a:p>
          <a:p>
            <a:r>
              <a:rPr lang="en-IN" b="1" dirty="0"/>
              <a:t>Every user query trains our prompts</a:t>
            </a:r>
            <a:r>
              <a:rPr lang="en-IN" dirty="0"/>
              <a:t> → We learn what explanations resonate</a:t>
            </a:r>
          </a:p>
          <a:p>
            <a:r>
              <a:rPr lang="en-IN" b="1" dirty="0"/>
              <a:t>Multimodal future-ready</a:t>
            </a:r>
            <a:r>
              <a:rPr lang="en-IN" dirty="0"/>
              <a:t> → Can add voice, image analysis (chart pattern recognition)</a:t>
            </a:r>
          </a:p>
          <a:p>
            <a:r>
              <a:rPr lang="en-IN" b="1" dirty="0"/>
              <a:t>Why Competitors Can't Copy:</a:t>
            </a:r>
            <a:endParaRPr lang="en-IN" dirty="0"/>
          </a:p>
          <a:p>
            <a:r>
              <a:rPr lang="en-IN" b="1" dirty="0"/>
              <a:t>Legacy apps built on static logic</a:t>
            </a:r>
            <a:r>
              <a:rPr lang="en-IN" dirty="0"/>
              <a:t> → Hard-coded thresholds, rules-based signals → Can't retrain on user feedback</a:t>
            </a:r>
          </a:p>
          <a:p>
            <a:r>
              <a:rPr lang="en-IN" b="1" dirty="0"/>
              <a:t>Our core = AI layer</a:t>
            </a:r>
            <a:r>
              <a:rPr lang="en-IN" dirty="0"/>
              <a:t> → Claude Haiku generates fresh explanations per query → Competitors have to retrofit AI into existing codebases</a:t>
            </a:r>
          </a:p>
          <a:p>
            <a:r>
              <a:rPr lang="en-IN" b="1" dirty="0"/>
              <a:t>Data advantage over time</a:t>
            </a:r>
            <a:r>
              <a:rPr lang="en-IN" dirty="0"/>
              <a:t> → 1,000 users asking "What does this mean?" → We collect 10,000 context examples → Fine-tune models → Better explanations → More users → </a:t>
            </a:r>
            <a:r>
              <a:rPr lang="en-IN" b="1" dirty="0"/>
              <a:t>Data flywheel</a:t>
            </a:r>
            <a:endParaRPr lang="en-IN" dirty="0"/>
          </a:p>
          <a:p>
            <a:r>
              <a:rPr lang="en-IN" b="1" dirty="0"/>
              <a:t>The Moat:</a:t>
            </a:r>
            <a:r>
              <a:rPr lang="en-IN" dirty="0"/>
              <a:t> In 6 months, our AI will explain RELIANCE's RSI in context of oil prices, Jio earnings, and sector trends → Competitors will still show "RSI: 58" with generic tooltip.</a:t>
            </a:r>
          </a:p>
          <a:p>
            <a:r>
              <a:rPr lang="en-IN" b="1" dirty="0"/>
              <a:t>Technical Edge:</a:t>
            </a:r>
            <a:endParaRPr lang="en-IN" dirty="0"/>
          </a:p>
          <a:p>
            <a:r>
              <a:rPr lang="en-IN" b="1" dirty="0" err="1"/>
              <a:t>OpenClaw</a:t>
            </a:r>
            <a:r>
              <a:rPr lang="en-IN" b="1" dirty="0"/>
              <a:t> framework</a:t>
            </a:r>
            <a:r>
              <a:rPr lang="en-IN" dirty="0"/>
              <a:t> → SOUL.md enforces consistent financial tone → Competitors using ChatGPT API get inconsistent/hallucinated advice</a:t>
            </a:r>
          </a:p>
          <a:p>
            <a:r>
              <a:rPr lang="en-IN" b="1" dirty="0"/>
              <a:t>Modular skill architecture</a:t>
            </a:r>
            <a:r>
              <a:rPr lang="en-IN" dirty="0"/>
              <a:t> → We can add /sentiment (news analysis), /compare TCS vs INFY in days → </a:t>
            </a:r>
            <a:r>
              <a:rPr lang="en-IN" dirty="0" err="1"/>
              <a:t>Zerodha</a:t>
            </a:r>
            <a:r>
              <a:rPr lang="en-IN" dirty="0"/>
              <a:t> needs quarterly releases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97758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6AF7424-7713-C165-98F9-FCAAC983E5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858435"/>
              </p:ext>
            </p:extLst>
          </p:nvPr>
        </p:nvGraphicFramePr>
        <p:xfrm>
          <a:off x="660647" y="742173"/>
          <a:ext cx="10515600" cy="21945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59746118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2648020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59687857"/>
                    </a:ext>
                  </a:extLst>
                </a:gridCol>
              </a:tblGrid>
              <a:tr h="31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Dimension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Traditional Apps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IPO Pulse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2809399"/>
                  </a:ext>
                </a:extLst>
              </a:tr>
              <a:tr h="31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User acquisition 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₹500-1,500 (app install ads)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₹0 (organic Telegram shares)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342029"/>
                  </a:ext>
                </a:extLst>
              </a:tr>
              <a:tr h="31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Development 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3-6 months per 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3-5 days (AI + microservices)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262973"/>
                  </a:ext>
                </a:extLst>
              </a:tr>
              <a:tr h="31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Customer 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Call center, tickets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Bot handles FAQs (</a:t>
                      </a:r>
                      <a:r>
                        <a:rPr lang="en-IN" b="0">
                          <a:latin typeface="Courier New" panose="02070309020205020404" pitchFamily="49" charset="0"/>
                        </a:rPr>
                        <a:t>/help</a:t>
                      </a:r>
                      <a:r>
                        <a:rPr lang="en-IN" b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9621102"/>
                  </a:ext>
                </a:extLst>
              </a:tr>
              <a:tr h="31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Platform risk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App Store/Play Store rules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Telegram = open platform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8435457"/>
                  </a:ext>
                </a:extLst>
              </a:tr>
              <a:tr h="31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Infrastructure 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₹5-10L/month (10K users)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₹50K/month (serverless + AI API)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4211775"/>
                  </a:ext>
                </a:extLst>
              </a:tr>
            </a:tbl>
          </a:graphicData>
        </a:graphic>
      </p:graphicFrame>
      <p:sp>
        <p:nvSpPr>
          <p:cNvPr id="11" name="Rectangle 6">
            <a:extLst>
              <a:ext uri="{FF2B5EF4-FFF2-40B4-BE49-F238E27FC236}">
                <a16:creationId xmlns:a16="http://schemas.microsoft.com/office/drawing/2014/main" id="{79ABF556-86CC-6042-B44D-17A03E728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647" y="403619"/>
            <a:ext cx="3866892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Bonus: Structural Advantages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1CC66A-C6D9-CABB-4EB6-C16813F801CE}"/>
              </a:ext>
            </a:extLst>
          </p:cNvPr>
          <p:cNvSpPr txBox="1"/>
          <p:nvPr/>
        </p:nvSpPr>
        <p:spPr>
          <a:xfrm>
            <a:off x="754602" y="3222594"/>
            <a:ext cx="1069759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Why This MOAT is Defensible</a:t>
            </a:r>
          </a:p>
          <a:p>
            <a:r>
              <a:rPr lang="en-US" dirty="0"/>
              <a:t>✅ </a:t>
            </a:r>
            <a:r>
              <a:rPr lang="en-US" b="1" dirty="0"/>
              <a:t>Not a feature</a:t>
            </a:r>
            <a:r>
              <a:rPr lang="en-US" dirty="0"/>
              <a:t> → It's an entirely different distribution model (Telegram vs. standalone app)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Not replicable</a:t>
            </a:r>
            <a:r>
              <a:rPr lang="en-US" dirty="0"/>
              <a:t> → </a:t>
            </a:r>
            <a:r>
              <a:rPr lang="en-US" dirty="0" err="1"/>
              <a:t>Zerodha</a:t>
            </a:r>
            <a:r>
              <a:rPr lang="en-US" dirty="0"/>
              <a:t> can't suddenly "move to Telegram" without cannibalizing their app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Gets stronger with scale</a:t>
            </a:r>
            <a:r>
              <a:rPr lang="en-US" dirty="0"/>
              <a:t> → More users → more conversational data → better AI → stickier product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Low-cost structure</a:t>
            </a:r>
            <a:r>
              <a:rPr lang="en-US" dirty="0"/>
              <a:t> → We can stay free forever → Competitors need ₹999/month premium tiers to justify costs</a:t>
            </a:r>
          </a:p>
          <a:p>
            <a:br>
              <a:rPr lang="en-US" dirty="0"/>
            </a:br>
            <a:r>
              <a:rPr lang="en-US" b="1" dirty="0"/>
              <a:t>The Kicker: "WhatsApp for Stock Alerts" vs. "Stock Alert App #47"</a:t>
            </a:r>
          </a:p>
          <a:p>
            <a:r>
              <a:rPr lang="en-US" b="1" dirty="0"/>
              <a:t>When users think:</a:t>
            </a:r>
            <a:endParaRPr lang="en-US" dirty="0"/>
          </a:p>
          <a:p>
            <a:r>
              <a:rPr lang="en-US" i="1" dirty="0"/>
              <a:t>"I need stock alerts"</a:t>
            </a:r>
            <a:r>
              <a:rPr lang="en-US" dirty="0"/>
              <a:t> → They open our Telegram bot (already there)</a:t>
            </a:r>
          </a:p>
          <a:p>
            <a:r>
              <a:rPr lang="en-US" b="1" dirty="0"/>
              <a:t>Not:</a:t>
            </a:r>
            <a:r>
              <a:rPr lang="en-US" dirty="0"/>
              <a:t> </a:t>
            </a:r>
            <a:r>
              <a:rPr lang="en-US" i="1" dirty="0"/>
              <a:t>"Let me download another app, create account, grant permissions..."</a:t>
            </a:r>
            <a:endParaRPr lang="en-US" dirty="0"/>
          </a:p>
          <a:p>
            <a:r>
              <a:rPr lang="en-US" b="1" dirty="0"/>
              <a:t>That's the moat.</a:t>
            </a:r>
            <a:r>
              <a:rPr lang="en-US" dirty="0"/>
              <a:t> Not technology. </a:t>
            </a:r>
            <a:r>
              <a:rPr lang="en-US" b="1" dirty="0"/>
              <a:t>Behavior change.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68759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Demo Link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55705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GitHub Repo :</a:t>
            </a:r>
            <a:r>
              <a:rPr lang="en-IN" dirty="0"/>
              <a:t> https://github.com/maurya-doshi/Samsung-PRISM-Hackathon</a:t>
            </a:r>
            <a:br>
              <a:rPr lang="en-IN" dirty="0"/>
            </a:br>
            <a:r>
              <a:rPr lang="en-IN" b="1" dirty="0"/>
              <a:t>Demo Link : </a:t>
            </a:r>
            <a:r>
              <a:rPr lang="en-IN" dirty="0"/>
              <a:t>https://github.com/maurya-doshi/Samsung-PRISM-Hackathon/blob/main/Documentation/project_video_walkthrough</a:t>
            </a:r>
            <a:r>
              <a:rPr lang="en-IN"/>
              <a:t>.mp4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098279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3017</Words>
  <Application>Microsoft Office PowerPoint</Application>
  <PresentationFormat>Widescreen</PresentationFormat>
  <Paragraphs>332</Paragraphs>
  <Slides>21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Berlin Sans FB Demi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Prakhar Chandrakar ./PRISM /SRI-Bangalore/Professional/Samsung Electronics</dc:creator>
  <cp:lastModifiedBy>Meera Kumar</cp:lastModifiedBy>
  <cp:revision>5</cp:revision>
  <dcterms:created xsi:type="dcterms:W3CDTF">2026-04-27T09:11:02Z</dcterms:created>
  <dcterms:modified xsi:type="dcterms:W3CDTF">2026-05-08T17:17:33Z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